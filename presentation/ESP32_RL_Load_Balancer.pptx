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cfd268f1f2477f" /><Relationship Type="http://schemas.openxmlformats.org/officeDocument/2006/relationships/extended-properties" Target="/docProps/app.xml" Id="R73604dae8d344c24" /><Relationship Type="http://schemas.openxmlformats.org/officeDocument/2006/relationships/officeDocument" Target="/ppt/presentation.xml" Id="R0126062ca21444b7" /></Relationships>
</file>

<file path=ppt/presentation.xml><?xml version="1.0" encoding="utf-8"?>
<p:presentation xmlns:p="http://schemas.openxmlformats.org/presentationml/2006/main">
  <p:sldMasterIdLst>
    <p:sldMasterId xmlns:r="http://schemas.openxmlformats.org/officeDocument/2006/relationships" id="2147483648" r:id="Rc6733b8a1be44094"/>
  </p:sldMasterIdLst>
  <p:notesMasterIdLst>
    <p:notesMasterId xmlns:r="http://schemas.openxmlformats.org/officeDocument/2006/relationships" r:id="R67f62aa2b3344408"/>
  </p:notesMasterIdLst>
  <p:sldIdLst>
    <p:sldId xmlns:r="http://schemas.openxmlformats.org/officeDocument/2006/relationships" id="256" r:id="R18a93a0521ff43aa"/>
    <p:sldId xmlns:r="http://schemas.openxmlformats.org/officeDocument/2006/relationships" id="257" r:id="R2499c69385b64ea7"/>
    <p:sldId xmlns:r="http://schemas.openxmlformats.org/officeDocument/2006/relationships" id="258" r:id="R17581108665546a0"/>
    <p:sldId xmlns:r="http://schemas.openxmlformats.org/officeDocument/2006/relationships" id="259" r:id="R49e1274a28594c42"/>
    <p:sldId xmlns:r="http://schemas.openxmlformats.org/officeDocument/2006/relationships" id="260" r:id="Rc2152b2ff05c46bb"/>
    <p:sldId xmlns:r="http://schemas.openxmlformats.org/officeDocument/2006/relationships" id="261" r:id="R7dce0172fe014a65"/>
    <p:sldId xmlns:r="http://schemas.openxmlformats.org/officeDocument/2006/relationships" id="262" r:id="R7a947e48afbc4e2b"/>
    <p:sldId xmlns:r="http://schemas.openxmlformats.org/officeDocument/2006/relationships" id="263" r:id="R70e6c7364c814875"/>
    <p:sldId xmlns:r="http://schemas.openxmlformats.org/officeDocument/2006/relationships" id="264" r:id="Red833bcf7fee4d7c"/>
    <p:sldId xmlns:r="http://schemas.openxmlformats.org/officeDocument/2006/relationships" id="265" r:id="Rc09a5bdf2252479d"/>
    <p:sldId xmlns:r="http://schemas.openxmlformats.org/officeDocument/2006/relationships" id="266" r:id="R7b4e6d2fdbd7434c"/>
    <p:sldId xmlns:r="http://schemas.openxmlformats.org/officeDocument/2006/relationships" id="267" r:id="R9cba1931affb4dd6"/>
    <p:sldId xmlns:r="http://schemas.openxmlformats.org/officeDocument/2006/relationships" id="268" r:id="R781d8e3d2c2f4e2e"/>
    <p:sldId xmlns:r="http://schemas.openxmlformats.org/officeDocument/2006/relationships" id="269" r:id="R834c9f65cff14720"/>
    <p:sldId xmlns:r="http://schemas.openxmlformats.org/officeDocument/2006/relationships" id="270" r:id="R6bd92bafe25945bc"/>
    <p:sldId xmlns:r="http://schemas.openxmlformats.org/officeDocument/2006/relationships" id="271" r:id="R062dd20ec9434a15"/>
    <p:sldId xmlns:r="http://schemas.openxmlformats.org/officeDocument/2006/relationships" id="272" r:id="R95b88fc5a1264a54"/>
    <p:sldId xmlns:r="http://schemas.openxmlformats.org/officeDocument/2006/relationships" id="273" r:id="Rf893e1d7be1c4546"/>
    <p:sldId xmlns:r="http://schemas.openxmlformats.org/officeDocument/2006/relationships" id="274" r:id="R892cdba452e94199"/>
    <p:sldId xmlns:r="http://schemas.openxmlformats.org/officeDocument/2006/relationships" id="275" r:id="R99b5c63d90374527"/>
    <p:sldId xmlns:r="http://schemas.openxmlformats.org/officeDocument/2006/relationships" id="276" r:id="R7d362bff08f545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21ea6e2f914a5b" /><Relationship Type="http://schemas.openxmlformats.org/officeDocument/2006/relationships/slideMaster" Target="/ppt/slideMasters/slideMaster1.xml" Id="Rc6733b8a1be44094" /><Relationship Type="http://schemas.openxmlformats.org/officeDocument/2006/relationships/notesMaster" Target="/ppt/notesMasters/notesMaster1.xml" Id="R67f62aa2b3344408" /><Relationship Type="http://schemas.openxmlformats.org/officeDocument/2006/relationships/presProps" Target="/ppt/presProps.xml" Id="R36796b5886d64293" /><Relationship Type="http://schemas.openxmlformats.org/officeDocument/2006/relationships/tableStyles" Target="/ppt/tableStyles.xml" Id="Rd76a4fa4aa254abb" /><Relationship Type="http://schemas.openxmlformats.org/officeDocument/2006/relationships/slide" Target="/ppt/slides/slide1.xml" Id="R18a93a0521ff43aa" /><Relationship Type="http://schemas.openxmlformats.org/officeDocument/2006/relationships/slide" Target="/ppt/slides/slide2.xml" Id="R2499c69385b64ea7" /><Relationship Type="http://schemas.openxmlformats.org/officeDocument/2006/relationships/slide" Target="/ppt/slides/slide3.xml" Id="R17581108665546a0" /><Relationship Type="http://schemas.openxmlformats.org/officeDocument/2006/relationships/slide" Target="/ppt/slides/slide4.xml" Id="R49e1274a28594c42" /><Relationship Type="http://schemas.openxmlformats.org/officeDocument/2006/relationships/slide" Target="/ppt/slides/slide5.xml" Id="Rc2152b2ff05c46bb" /><Relationship Type="http://schemas.openxmlformats.org/officeDocument/2006/relationships/slide" Target="/ppt/slides/slide6.xml" Id="R7dce0172fe014a65" /><Relationship Type="http://schemas.openxmlformats.org/officeDocument/2006/relationships/slide" Target="/ppt/slides/slide7.xml" Id="R7a947e48afbc4e2b" /><Relationship Type="http://schemas.openxmlformats.org/officeDocument/2006/relationships/slide" Target="/ppt/slides/slide8.xml" Id="R70e6c7364c814875" /><Relationship Type="http://schemas.openxmlformats.org/officeDocument/2006/relationships/slide" Target="/ppt/slides/slide9.xml" Id="Red833bcf7fee4d7c" /><Relationship Type="http://schemas.openxmlformats.org/officeDocument/2006/relationships/slide" Target="/ppt/slides/slide10.xml" Id="Rc09a5bdf2252479d" /><Relationship Type="http://schemas.openxmlformats.org/officeDocument/2006/relationships/slide" Target="/ppt/slides/slide11.xml" Id="R7b4e6d2fdbd7434c" /><Relationship Type="http://schemas.openxmlformats.org/officeDocument/2006/relationships/slide" Target="/ppt/slides/slide12.xml" Id="R9cba1931affb4dd6" /><Relationship Type="http://schemas.openxmlformats.org/officeDocument/2006/relationships/slide" Target="/ppt/slides/slide13.xml" Id="R781d8e3d2c2f4e2e" /><Relationship Type="http://schemas.openxmlformats.org/officeDocument/2006/relationships/slide" Target="/ppt/slides/slide14.xml" Id="R834c9f65cff14720" /><Relationship Type="http://schemas.openxmlformats.org/officeDocument/2006/relationships/slide" Target="/ppt/slides/slide15.xml" Id="R6bd92bafe25945bc" /><Relationship Type="http://schemas.openxmlformats.org/officeDocument/2006/relationships/slide" Target="/ppt/slides/slide16.xml" Id="R062dd20ec9434a15" /><Relationship Type="http://schemas.openxmlformats.org/officeDocument/2006/relationships/slide" Target="/ppt/slides/slide17.xml" Id="R95b88fc5a1264a54" /><Relationship Type="http://schemas.openxmlformats.org/officeDocument/2006/relationships/slide" Target="/ppt/slides/slide18.xml" Id="Rf893e1d7be1c4546" /><Relationship Type="http://schemas.openxmlformats.org/officeDocument/2006/relationships/slide" Target="/ppt/slides/slide19.xml" Id="R892cdba452e94199" /><Relationship Type="http://schemas.openxmlformats.org/officeDocument/2006/relationships/slide" Target="/ppt/slides/slide20.xml" Id="R99b5c63d90374527" /><Relationship Type="http://schemas.openxmlformats.org/officeDocument/2006/relationships/slide" Target="/ppt/slides/slide21.xml" Id="R7d362bff08f545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d0eafa86744b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c7508ff88f48dc" /><Relationship Type="http://schemas.openxmlformats.org/officeDocument/2006/relationships/notesMaster" Target="/ppt/notesMasters/notesMaster1.xml" Id="R4301512ca64049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886c68616f44cd" /><Relationship Type="http://schemas.openxmlformats.org/officeDocument/2006/relationships/notesMaster" Target="/ppt/notesMasters/notesMaster1.xml" Id="R6ec7d4b5846e49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7b100e7a87485b" /><Relationship Type="http://schemas.openxmlformats.org/officeDocument/2006/relationships/notesMaster" Target="/ppt/notesMasters/notesMaster1.xml" Id="Re341db49e67842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444e8a95d84440" /><Relationship Type="http://schemas.openxmlformats.org/officeDocument/2006/relationships/notesMaster" Target="/ppt/notesMasters/notesMaster1.xml" Id="Rc31eab6205c148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4f84ba36dc4507" /><Relationship Type="http://schemas.openxmlformats.org/officeDocument/2006/relationships/notesMaster" Target="/ppt/notesMasters/notesMaster1.xml" Id="R1ef43e69afbb44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34ec37ddd5409b" /><Relationship Type="http://schemas.openxmlformats.org/officeDocument/2006/relationships/notesMaster" Target="/ppt/notesMasters/notesMaster1.xml" Id="R352e6474001c4a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8f46d4e7894db4" /><Relationship Type="http://schemas.openxmlformats.org/officeDocument/2006/relationships/notesMaster" Target="/ppt/notesMasters/notesMaster1.xml" Id="R6b3d060780564e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1c95131d1a4742" /><Relationship Type="http://schemas.openxmlformats.org/officeDocument/2006/relationships/notesMaster" Target="/ppt/notesMasters/notesMaster1.xml" Id="Rb0d24844161d41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7e3843b95b4e2b" /><Relationship Type="http://schemas.openxmlformats.org/officeDocument/2006/relationships/notesMaster" Target="/ppt/notesMasters/notesMaster1.xml" Id="R722b6058ee5b4c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90ca49ae1d4168" /><Relationship Type="http://schemas.openxmlformats.org/officeDocument/2006/relationships/notesMaster" Target="/ppt/notesMasters/notesMaster1.xml" Id="Rc19499580fc74e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2bb16d401741f3" /><Relationship Type="http://schemas.openxmlformats.org/officeDocument/2006/relationships/notesMaster" Target="/ppt/notesMasters/notesMaster1.xml" Id="Raacdc3b502e143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b0797838544cbc" /><Relationship Type="http://schemas.openxmlformats.org/officeDocument/2006/relationships/notesMaster" Target="/ppt/notesMasters/notesMaster1.xml" Id="R73aa66f264434b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d08be77e9749e4" /><Relationship Type="http://schemas.openxmlformats.org/officeDocument/2006/relationships/notesMaster" Target="/ppt/notesMasters/notesMaster1.xml" Id="R7f94fd5313424a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08b71facaa4f6a" /><Relationship Type="http://schemas.openxmlformats.org/officeDocument/2006/relationships/notesMaster" Target="/ppt/notesMasters/notesMaster1.xml" Id="Rb776ac7a2bea4e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a859704be44158" /><Relationship Type="http://schemas.openxmlformats.org/officeDocument/2006/relationships/notesMaster" Target="/ppt/notesMasters/notesMaster1.xml" Id="R27a94c50391741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dd5a913b664cd4" /><Relationship Type="http://schemas.openxmlformats.org/officeDocument/2006/relationships/notesMaster" Target="/ppt/notesMasters/notesMaster1.xml" Id="R5ad5382b61f74d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2a83687ab84cbb" /><Relationship Type="http://schemas.openxmlformats.org/officeDocument/2006/relationships/notesMaster" Target="/ppt/notesMasters/notesMaster1.xml" Id="Rc2080014d81149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2a39bab82b484c" /><Relationship Type="http://schemas.openxmlformats.org/officeDocument/2006/relationships/notesMaster" Target="/ppt/notesMasters/notesMaster1.xml" Id="R2ae31c25d6d944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829974fc39140c6" /><Relationship Type="http://schemas.openxmlformats.org/officeDocument/2006/relationships/notesMaster" Target="/ppt/notesMasters/notesMaster1.xml" Id="R4105f9be920645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aa7814a97042ed" /><Relationship Type="http://schemas.openxmlformats.org/officeDocument/2006/relationships/notesMaster" Target="/ppt/notesMasters/notesMaster1.xml" Id="Reb394453df9a40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3945c588ee447b" /><Relationship Type="http://schemas.openxmlformats.org/officeDocument/2006/relationships/notesMaster" Target="/ppt/notesMasters/notesMaster1.xml" Id="R51f29828d16241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DA3 review. Firmware and UI reviewed at upstream commit 76d80d56532424a05b93f037408980ff52f622d2. The team confirms Q-table persistence is implemented but not pushed. Hardware results follow markdowns/05_results_and_limits.md and the user confirmation in this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and registration numbers supplied directly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https://github.com/Tanish-Desai/Esp32LoadBal/blob/76d80d56532424a05b93f037408980ff52f622d2/server-client/server.py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https://github.com/Tanish-Desai/Esp32LoadBal/blob/76d80d56532424a05b93f037408980ff52f622d2/benchmarks/run_benchmark.py</a:t>
            </a:r>
          </a:p>
          <a:p xmlns:a="http://schemas.openxmlformats.org/drawingml/2006/main">
            <a:r>
              <a:t>Team confirmation: flash persistence implemented, commit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https://github.com/Tanish-Desai/Esp32LoadBal/blob/76d80d56532424a05b93f037408980ff52f622d2/ui/app.py</a:t>
            </a:r>
          </a:p>
          <a:p xmlns:a="http://schemas.openxmlformats.org/drawingml/2006/main">
            <a:r>
              <a:t>https://github.com/Tanish-Desai/Esp32LoadBal/blob/76d80d56532424a05b93f037408980ff52f622d2/server-client/client.py</a:t>
            </a:r>
          </a:p>
          <a:p xmlns:a="http://schemas.openxmlformats.org/drawingml/2006/main">
            <a:r>
              <a:t>https://github.com/Tanish-Desai/Esp32LoadBal/blob/76d80d56532424a05b93f037408980ff52f622d2/server-client/server.py</a:t>
            </a:r>
          </a:p>
          <a:p xmlns:a="http://schemas.openxmlformats.org/drawingml/2006/main">
            <a:r>
              <a:t>https://github.com/Tanish-Desai/Esp32LoadBal/blob/76d80d56532424a05b93f037408980ff52f622d2/esp32/MyFirstESP32/src/main.cpp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https://github.com/Tanish-Desai/Esp32LoadBal/blob/76d80d56532424a05b93f037408980ff52f622d2/esp32/MyFirstESP32/platformio.ini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https://github.com/Tanish-Desai/Esp32LoadBal/blob/76d80d56532424a05b93f037408980ff52f622d2/esp32/MyFirstESP32/lib/LoadBalancerAlgorithms/src/QLearning.cpp</a:t>
            </a:r>
          </a:p>
          <a:p xmlns:a="http://schemas.openxmlformats.org/drawingml/2006/main">
            <a:r>
              <a:t>https://github.com/Tanish-Desai/Esp32LoadBal/blob/76d80d56532424a05b93f037408980ff52f622d2/esp32/MyFirstESP32/src/main.cpp</a:t>
            </a:r>
          </a:p>
          <a:p xmlns:a="http://schemas.openxmlformats.org/drawingml/2006/main">
            <a:r>
              <a:t>The firmware selects with the pre-admission session count and updates using the active count at completion. This is an implementation caveat for state-transition fidelity. The duration threshold is a reward rule, not a firmware timer that forcibly closes sessions at 2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https://github.com/Tanish-Desai/Esp32LoadBal/blob/76d80d56532424a05b93f037408980ff52f622d2/esp32/MyFirstESP32/lib/LoadBalancerAlgorithms/src/RoundRobin.cpp</a:t>
            </a:r>
          </a:p>
          <a:p xmlns:a="http://schemas.openxmlformats.org/drawingml/2006/main">
            <a:r>
              <a:t>https://github.com/Tanish-Desai/Esp32LoadBal/blob/76d80d56532424a05b93f037408980ff52f622d2/esp32/MyFirstESP32/lib/LoadBalancerAlgorithms/src/EmaResponseTime.cpp</a:t>
            </a:r>
          </a:p>
          <a:p xmlns:a="http://schemas.openxmlformats.org/drawingml/2006/main">
            <a:r>
              <a:t>https://github.com/Tanish-Desai/Esp32LoadBal/blob/76d80d56532424a05b93f037408980ff52f622d2/esp32/MyFirstESP32/lib/LoadBalancerAlgorithms/src/QLearning.cpp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statement, confirmed implemented but not pushed. The storage API, save cadence and validation scheme are not present in the synchronized repository and are not asserted here.</a:t>
            </a:r>
          </a:p>
          <a:p xmlns:a="http://schemas.openxmlformats.org/drawingml/2006/main">
            <a:r>
              <a:t>Espressif Preferences documentation: https://docs.espressif.com/projects/arduino-esp32/en/latest/api/preferences.html</a:t>
            </a:r>
          </a:p>
          <a:p xmlns:a="http://schemas.openxmlformats.org/drawingml/2006/main">
            <a:r>
              <a:t>The ESP32 Arduino EEPROM interface is a flash-backed compatibility mechanism. Preferences uses NVS. The slide deliberately describes nonvolatile flash without guessing which API the unpushed change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https://github.com/Tanish-Desai/Esp32LoadBal/blob/76d80d56532424a05b93f037408980ff52f622d2/ui/static/storefront.js</a:t>
            </a:r>
          </a:p>
          <a:p xmlns:a="http://schemas.openxmlformats.org/drawingml/2006/main">
            <a:r>
              <a:t>https://github.com/Tanish-Desai/Esp32LoadBal/blob/76d80d56532424a05b93f037408980ff52f622d2/ui/static/region-config.js</a:t>
            </a:r>
          </a:p>
          <a:p xmlns:a="http://schemas.openxmlformats.org/drawingml/2006/main">
            <a:r>
              <a:t>Screenshot captured from the actual local UI with no ESP32 connected and no generated traffic. Product prices and regional labels are illustrative. The storefront has no inventory or checkout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https://github.com/Tanish-Desai/Esp32LoadBal/blob/76d80d56532424a05b93f037408980ff52f622d2/ui/static/world-map.js</a:t>
            </a:r>
          </a:p>
          <a:p xmlns:a="http://schemas.openxmlformats.org/drawingml/2006/main">
            <a:r>
              <a:t>https://github.com/Tanish-Desai/Esp32LoadBal/blob/76d80d56532424a05b93f037408980ff52f622d2/ui/static/charts.js</a:t>
            </a:r>
          </a:p>
          <a:p xmlns:a="http://schemas.openxmlformats.org/drawingml/2006/main">
            <a:r>
              <a:t>https://github.com/Tanish-Desai/Esp32LoadBal/blob/76d80d56532424a05b93f037408980ff52f622d2/ui/static/event-stream.js</a:t>
            </a:r>
          </a:p>
          <a:p xmlns:a="http://schemas.openxmlformats.org/drawingml/2006/main">
            <a:r>
              <a:t>Screenshot captured from the actual local UI with no traffic. Region coordinates only locate mock generators on the map. The gateway has no status endpoint and does not report its 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https://github.com/Tanish-Desai/Esp32LoadBal/blob/76d80d56532424a05b93f037408980ff52f622d2/ui/static/storefront.js</a:t>
            </a:r>
          </a:p>
          <a:p xmlns:a="http://schemas.openxmlformats.org/drawingml/2006/main">
            <a:r>
              <a:t>https://github.com/Tanish-Desai/Esp32LoadBal/blob/76d80d56532424a05b93f037408980ff52f622d2/benchmarks/run_benchmark.py</a:t>
            </a:r>
          </a:p>
          <a:p xmlns:a="http://schemas.openxmlformats.org/drawingml/2006/main">
            <a:r>
              <a:t>This is a demonstration protocol, not a claim that a new hardware experiment was performed during deck preparation. A direct-backend test is a connectivity check, not an ESP32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https://github.com/Tanish-Desai/Esp32LoadBal/blob/76d80d56532424a05b93f037408980ff52f622d2/benchmarks/run_benchmark.py</a:t>
            </a:r>
          </a:p>
          <a:p xmlns:a="http://schemas.openxmlformats.org/drawingml/2006/main">
            <a:r>
              <a:t>User explicitly approved use of the hardware figures. The source notes describe the run as real ESP32, 3 backends, 5 clients and 120 seconds. data/project_data.json still has null measured_results. Raw run artifacts and repeated-run intervals are not included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Team confirmation: use hardware mean latency RR=518 ms, Q-learning=208 ms, EMA=515 ms.</a:t>
            </a:r>
          </a:p>
          <a:p xmlns:a="http://schemas.openxmlformats.org/drawingml/2006/main">
            <a:r>
              <a:t>Calculation: (518−208)/518×100 = 59.8456%. Single documented configuration, not a universal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The team confirmed the hardware run in this task. These figures come from the results markdown, not the still-null measured_results JSON. No uncertainty interval is available. Served totals, timeout counts and throughput describe the documented run, with throughput rounded to one decimal place.</a:t>
            </a:r>
          </a:p>
          <a:p xmlns:a="http://schemas.openxmlformats.org/drawingml/2006/main">
            <a:r>
              <a:t>Throughput gain from rounded rates: (9.6/6.1−1)×100 = 57.38%. p95 reduction: (1186−473)/1186×100 = 60.12%.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https://github.com/Tanish-Desai/Esp32LoadBal/blob/76d80d56532424a05b93f037408980ff52f622d2/data/project_data.json</a:t>
            </a:r>
          </a:p>
          <a:p xmlns:a="http://schemas.openxmlformats.org/drawingml/2006/main">
            <a:r>
              <a:t>Section simulation_findings.scenario_results. Reproducible via benchmarks/tools/export_sim_results.mjs. This deck uses stored 8-seed aggregates, not single-seed results. Smart factory, rural clinic and retail POS are simulated scenarios, not deployments.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https://github.com/Tanish-Desai/Esp32LoadBal/blob/76d80d56532424a05b93f037408980ff52f622d2/data/project_data.json</a:t>
            </a:r>
          </a:p>
          <a:p xmlns:a="http://schemas.openxmlformats.org/drawingml/2006/main">
            <a:r>
              <a:t>Section simulation_findings.headline_finding.table. Two backends and six clients, fast backend at 60 ms, latency spread swept from 1× to 12×. Reproduce with node benchmarks/tools/exp_heterogeneity.mjs. The 8× value is specific to these settings, not a universal threshold.</a:t>
            </a:r>
          </a:p>
          <a:p xmlns:a="http://schemas.openxmlformats.org/drawingml/2006/main">
            <a:r>
              <a:t>At 12×: 93.7−49.8 = 43.9 percentage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https://github.com/Tanish-Desai/Esp32LoadBal/blob/76d80d56532424a05b93f037408980ff52f622d2/data/project_data.json</a:t>
            </a:r>
          </a:p>
          <a:p xmlns:a="http://schemas.openxmlformats.org/drawingml/2006/main">
            <a:r>
              <a:t>Section simulation_findings.known_weakness. Stored aggregate results are RR=84.9%, QL=74.5%, EMA=97.2%. The narrative known_weakness.finding contains a stale RR=84.5% value, which belongs to a single-seed run. This slide consistently uses the 8-seed aggregate.</a:t>
            </a:r>
          </a:p>
          <a:p xmlns:a="http://schemas.openxmlformats.org/drawingml/2006/main">
            <a:r>
              <a:t>The epsilon floor experiment improves QL mean goodput to 85.5% but remains a simulation experiment. Firmware still uses 0.05. Persistence is implemented separately and does not fix stale-policy adaptation.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https://github.com/Tanish-Desai/Esp32LoadBal/blob/76d80d56532424a05b93f037408980ff52f622d2/ui/static/region-config.js</a:t>
            </a:r>
          </a:p>
          <a:p xmlns:a="http://schemas.openxmlformats.org/drawingml/2006/main">
            <a:r>
              <a:t>https://github.com/Tanish-Desai/Esp32LoadBal/blob/76d80d56532424a05b93f037408980ff52f622d2/data/project_data.json</a:t>
            </a:r>
          </a:p>
          <a:p xmlns:a="http://schemas.openxmlformats.org/drawingml/2006/main">
            <a:r>
              <a:t>The seven-session ceiling is the current firmware configuration, not a universal immutable ESP32 silicon constraint. Retry calls may choose the same backend more than once. Feedback uses the active count at completion rather than preserving the decision-time state. No TLS code exists in this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https://github.com/Tanish-Desai/Esp32LoadBal/blob/76d80d56532424a05b93f037408980ff52f622d2/markdowns/05_results_and_limits.md</a:t>
            </a:r>
          </a:p>
          <a:p xmlns:a="http://schemas.openxmlformats.org/drawingml/2006/main">
            <a:r>
              <a:t>https://github.com/Tanish-Desai/Esp32LoadBal/blob/76d80d56532424a05b93f037408980ff52f622d2/ui/templates/index.html</a:t>
            </a:r>
          </a:p>
          <a:p xmlns:a="http://schemas.openxmlformats.org/drawingml/2006/main">
            <a:r>
              <a:t>https://github.com/Tanish-Desai/Esp32LoadBal/blob/76d80d56532424a05b93f037408980ff52f622d2/esp32/MyFirstESP32/src/main.cpp</a:t>
            </a:r>
          </a:p>
          <a:p xmlns:a="http://schemas.openxmlformats.org/drawingml/2006/main">
            <a:r>
              <a:t>Q-table persistence status is based on the team statement, not the synchronized source. Mean-latency improvement is specific to the documented hardware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evidence inspected at 76d80d56532424a05b93f037408980ff52f622d2. Both GitHub main branches synchronized before creating this deck.</a:t>
            </a:r>
          </a:p>
          <a:p xmlns:a="http://schemas.openxmlformats.org/drawingml/2006/main">
            <a:r>
              <a:t>https://github.com/Tanish-Desai/Esp32LoadBal/blob/76d80d56532424a05b93f037408980ff52f622d2/markdowns/05_results_and_limits.md</a:t>
            </a:r>
          </a:p>
          <a:p xmlns:a="http://schemas.openxmlformats.org/drawingml/2006/main">
            <a:r>
              <a:t>https://github.com/Tanish-Desai/Esp32LoadBal/blob/76d80d56532424a05b93f037408980ff52f622d2/data/project_data.json</a:t>
            </a:r>
          </a:p>
          <a:p xmlns:a="http://schemas.openxmlformats.org/drawingml/2006/main">
            <a:r>
              <a:t>https://github.com/Tanish-Desai/Esp32LoadBal/blob/76d80d56532424a05b93f037408980ff52f622d2/esp32/MyFirstESP32/src/main.cpp</a:t>
            </a:r>
          </a:p>
          <a:p xmlns:a="http://schemas.openxmlformats.org/drawingml/2006/main">
            <a:r>
              <a:t>https://github.com/Tanish-Desai/Esp32LoadBal/blob/76d80d56532424a05b93f037408980ff52f622d2/esp32/MyFirstESP32/lib/LoadBalancerAlgorithms/src/QLearning.cpp</a:t>
            </a:r>
          </a:p>
          <a:p xmlns:a="http://schemas.openxmlformats.org/drawingml/2006/main">
            <a:r>
              <a:t>https://github.com/Tanish-Desai/Esp32LoadBal/blob/76d80d56532424a05b93f037408980ff52f622d2/ui/static/telemetry.js</a:t>
            </a:r>
          </a:p>
          <a:p xmlns:a="http://schemas.openxmlformats.org/drawingml/2006/main">
            <a:r>
              <a:t>https://github.com/Tanish-Desai/Esp32LoadBal/blob/76d80d56532424a05b93f037408980ff52f622d2/ui/static/storefront.js</a:t>
            </a:r>
          </a:p>
          <a:p xmlns:a="http://schemas.openxmlformats.org/drawingml/2006/main">
            <a:r>
              <a:t>https://docs.espressif.com/projects/arduino-esp32/en/latest/api/preferences.html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67b04abed841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a0bbd46a7e42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06693ec10548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fe839b3b164b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0f49759e024d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6f0b70be4848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680483-036E-4E52-AF6D-8BA6B2BAF4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CC1C4C-20E4-43BC-95CB-55625D9A4F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890FB1-C358-44E5-B889-E7FF97B7CD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F4DB4F-AF59-48B9-B57C-5C4E8C3FDA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541074-8F4F-4B88-93BB-36EA7C2756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DB60A7-A00A-4314-9872-AA1AB6D98B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5D9A94-CD41-4038-B179-4958636AA1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63FD2C-4399-4E04-AC7A-B7580DB7185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2A0B6C-42AA-4EFC-9B4E-7C844F4CB1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FB901A-BBD7-4C2D-8465-A43384996D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386d9922af4d04" /><Relationship Type="http://schemas.openxmlformats.org/officeDocument/2006/relationships/slideLayout" Target="/ppt/slideLayouts/slideLayout1.xml" Id="R3227928823744d12" /><Relationship Type="http://schemas.openxmlformats.org/officeDocument/2006/relationships/slideLayout" Target="/ppt/slideLayouts/slideLayout2.xml" Id="R1b8b6f7acda64449" /><Relationship Type="http://schemas.openxmlformats.org/officeDocument/2006/relationships/slideLayout" Target="/ppt/slideLayouts/slideLayout3.xml" Id="R5687394a61474e0e" /><Relationship Type="http://schemas.openxmlformats.org/officeDocument/2006/relationships/slideLayout" Target="/ppt/slideLayouts/slideLayout4.xml" Id="Rcb568e5938c04527" /><Relationship Type="http://schemas.openxmlformats.org/officeDocument/2006/relationships/slideLayout" Target="/ppt/slideLayouts/slideLayout5.xml" Id="R0720471bc5674d6e" /><Relationship Type="http://schemas.openxmlformats.org/officeDocument/2006/relationships/slideLayout" Target="/ppt/slideLayouts/slideLayout6.xml" Id="R27ab3012cd4341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27928823744d12"/>
    <p:sldLayoutId xmlns:r="http://schemas.openxmlformats.org/officeDocument/2006/relationships" id="2147483650" r:id="R1b8b6f7acda64449"/>
    <p:sldLayoutId xmlns:r="http://schemas.openxmlformats.org/officeDocument/2006/relationships" id="2147483651" r:id="R5687394a61474e0e"/>
    <p:sldLayoutId xmlns:r="http://schemas.openxmlformats.org/officeDocument/2006/relationships" id="2147483652" r:id="Rcb568e5938c04527"/>
    <p:sldLayoutId xmlns:r="http://schemas.openxmlformats.org/officeDocument/2006/relationships" id="2147483653" r:id="R0720471bc5674d6e"/>
    <p:sldLayoutId xmlns:r="http://schemas.openxmlformats.org/officeDocument/2006/relationships" id="2147483654" r:id="R27ab3012cd4341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ce3fe5a2304f98" /><Relationship Type="http://schemas.openxmlformats.org/officeDocument/2006/relationships/notesSlide" Target="/ppt/notesSlides/notesSlide1.xml" Id="Rd4502e51c69947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e8eed9c5084a17" /><Relationship Type="http://schemas.openxmlformats.org/officeDocument/2006/relationships/notesSlide" Target="/ppt/notesSlides/notesSlide2.xml" Id="Re097f698c32940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8f298f8895472c" /><Relationship Type="http://schemas.openxmlformats.org/officeDocument/2006/relationships/notesSlide" Target="/ppt/notesSlides/notesSlide3.xml" Id="Rcbd65f61912c49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45bd7af8534586" /><Relationship Type="http://schemas.openxmlformats.org/officeDocument/2006/relationships/notesSlide" Target="/ppt/notesSlides/notesSlide4.xml" Id="R455bd18505c14f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512d43469a4199" /><Relationship Type="http://schemas.openxmlformats.org/officeDocument/2006/relationships/notesSlide" Target="/ppt/notesSlides/notesSlide5.xml" Id="R78957bf0e26940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742784e87a4f11" /><Relationship Type="http://schemas.openxmlformats.org/officeDocument/2006/relationships/notesSlide" Target="/ppt/notesSlides/notesSlide6.xml" Id="Rc4c196ed4f4345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4f10fdfa7f405b" /><Relationship Type="http://schemas.openxmlformats.org/officeDocument/2006/relationships/notesSlide" Target="/ppt/notesSlides/notesSlide7.xml" Id="R9dbb06835c3c4e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a8e518af00499b" /><Relationship Type="http://schemas.openxmlformats.org/officeDocument/2006/relationships/notesSlide" Target="/ppt/notesSlides/notesSlide8.xml" Id="R0c9567b8161b46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d0e53620b64c0c" /><Relationship Type="http://schemas.openxmlformats.org/officeDocument/2006/relationships/notesSlide" Target="/ppt/notesSlides/notesSlide9.xml" Id="R47d3530351af46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b74b76c4faa4f10" /><Relationship Type="http://schemas.openxmlformats.org/officeDocument/2006/relationships/image" Target="/ppt/media/image.jpeg" Id="R733e16eb83174348" /><Relationship Type="http://schemas.openxmlformats.org/officeDocument/2006/relationships/notesSlide" Target="/ppt/notesSlides/notesSlide10.xml" Id="R69e09c1b40d14b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82a4cdaa38141fa" /><Relationship Type="http://schemas.openxmlformats.org/officeDocument/2006/relationships/image" Target="/ppt/media/image2.jpeg" Id="R546d8598fe3041e2" /><Relationship Type="http://schemas.openxmlformats.org/officeDocument/2006/relationships/notesSlide" Target="/ppt/notesSlides/notesSlide11.xml" Id="R96a33c10a92b4b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3c6facf830045ee" /><Relationship Type="http://schemas.openxmlformats.org/officeDocument/2006/relationships/notesSlide" Target="/ppt/notesSlides/notesSlide12.xml" Id="R3fc5d9c75ad344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dad48fcba6443e9" /><Relationship Type="http://schemas.openxmlformats.org/officeDocument/2006/relationships/notesSlide" Target="/ppt/notesSlides/notesSlide13.xml" Id="R05449e0c48284c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0a3bff3c9c4e74" /><Relationship Type="http://schemas.openxmlformats.org/officeDocument/2006/relationships/chart" Target="/ppt/slides/charts/chart1.xml" Id="R24a0e467f485496a" /><Relationship Type="http://schemas.openxmlformats.org/officeDocument/2006/relationships/notesSlide" Target="/ppt/notesSlides/notesSlide14.xml" Id="Raa38ae7d402e47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8b90e1b4e0f4a81" /><Relationship Type="http://schemas.openxmlformats.org/officeDocument/2006/relationships/notesSlide" Target="/ppt/notesSlides/notesSlide15.xml" Id="R61bcece8988b4c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154f3a54ae642bf" /><Relationship Type="http://schemas.openxmlformats.org/officeDocument/2006/relationships/notesSlide" Target="/ppt/notesSlides/notesSlide16.xml" Id="R7204a7fb33094a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de876557aed4085" /><Relationship Type="http://schemas.openxmlformats.org/officeDocument/2006/relationships/chart" Target="/ppt/slides/charts/chart2.xml" Id="R40f1ab281566496d" /><Relationship Type="http://schemas.openxmlformats.org/officeDocument/2006/relationships/notesSlide" Target="/ppt/notesSlides/notesSlide17.xml" Id="R1e7ecd02783a4a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7c08a7f1bba493f" /><Relationship Type="http://schemas.openxmlformats.org/officeDocument/2006/relationships/notesSlide" Target="/ppt/notesSlides/notesSlide18.xml" Id="Rd87806ab0dc44e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703b4ea2cf64146" /><Relationship Type="http://schemas.openxmlformats.org/officeDocument/2006/relationships/notesSlide" Target="/ppt/notesSlides/notesSlide19.xml" Id="Rff7688a538f746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4848c56275f4a2b" /><Relationship Type="http://schemas.openxmlformats.org/officeDocument/2006/relationships/notesSlide" Target="/ppt/notesSlides/notesSlide20.xml" Id="R4832493b898549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45fba5ddb8d4f04" /><Relationship Type="http://schemas.openxmlformats.org/officeDocument/2006/relationships/notesSlide" Target="/ppt/notesSlides/notesSlide21.xml" Id="R37a3c68e5aef48f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F7F4EE"/>
                </a:solidFill>
              </a:rPr>
              <a:t>Mean response time (ms)</a:t>
            </a:r>
          </a:p>
        </c:rich>
      </c:tx>
      <c:overlay val="0"/>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title>
    <c:plotArea>
      <c:barChart>
        <c:barDir val="col"/>
        <c:grouping val="clustered"/>
        <c:varyColors val="0"/>
        <c:ser>
          <c:idx val="0"/>
          <c:order val="0"/>
          <c:tx>
            <c:v>Mean response time</c:v>
          </c:tx>
          <c:invertIfNegative val="0"/>
          <c:dPt>
            <c:idx val="0"/>
            <c:invertIfNegative val="0"/>
            <c:spPr>
              <a:solidFill xmlns:a="http://schemas.openxmlformats.org/drawingml/2006/main">
                <a:srgbClr val="3C83D1"/>
              </a:solidFill>
            </c:spPr>
          </c:dPt>
          <c:dPt>
            <c:idx val="1"/>
            <c:invertIfNegative val="0"/>
            <c:spPr>
              <a:solidFill xmlns:a="http://schemas.openxmlformats.org/drawingml/2006/main">
                <a:srgbClr val="E16A3D"/>
              </a:solidFill>
            </c:spPr>
          </c:dPt>
          <c:dPt>
            <c:idx val="2"/>
            <c:invertIfNegative val="0"/>
            <c:spPr>
              <a:solidFill xmlns:a="http://schemas.openxmlformats.org/drawingml/2006/main">
                <a:srgbClr val="1E9C73"/>
              </a:solidFill>
            </c:spPr>
          </c:dPt>
          <c:cat>
            <c:strLit>
              <c:ptCount val="3"/>
              <c:pt idx="0">
                <c:v>Round Robin</c:v>
              </c:pt>
              <c:pt idx="1">
                <c:v>Q-learning</c:v>
              </c:pt>
              <c:pt idx="2">
                <c:v>EMA</c:v>
              </c:pt>
            </c:strLit>
          </c:cat>
          <c:val>
            <c:numLit>
              <c:formatCode>General</c:formatCode>
              <c:ptCount val="3"/>
              <c:pt idx="0">
                <c:v>518</c:v>
              </c:pt>
              <c:pt idx="1">
                <c:v>208</c:v>
              </c:pt>
              <c:pt idx="2">
                <c:v>515</c:v>
              </c:pt>
            </c:numLit>
          </c:val>
        </c:ser>
        <c:dLbls>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0ABB5"/>
            </a:solidFill>
          </a:ln>
        </c:spPr>
        <c:txPr>
          <a:bodyPr xmlns:a="http://schemas.openxmlformats.org/drawingml/2006/main" anchorCtr="1"/>
          <a:lstStyle xmlns:a="http://schemas.openxmlformats.org/drawingml/2006/main"/>
          <a:p xmlns:a="http://schemas.openxmlformats.org/drawingml/2006/main">
            <a:pPr>
              <a:defRPr sz="1500">
                <a:solidFill>
                  <a:srgbClr val="D8D3CB"/>
                </a:solidFill>
              </a:defRPr>
            </a:pPr>
          </a:p>
        </c:txPr>
        <c:crossAx val="48672768"/>
      </c:catAx>
      <c:valAx>
        <c:axId val="48672768"/>
        <c:scaling>
          <c:orientation val="minMax"/>
          <c:max val="650"/>
          <c:min val="0"/>
        </c:scaling>
        <c:delete val="0"/>
        <c:axPos val="l"/>
        <c:majorGridlines>
          <c:spPr>
            <a:ln xmlns:a="http://schemas.openxmlformats.org/drawingml/2006/main" w="9525">
              <a:solidFill>
                <a:srgbClr val="30404F"/>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D8D3CB"/>
                </a:solidFill>
              </a:defRPr>
            </a:pPr>
          </a:p>
        </c:txPr>
        <c:crossAx val="48650112"/>
        <c:crossBetween val="between"/>
      </c:valAx>
      <c:spPr>
        <a:solidFill xmlns:a="http://schemas.openxmlformats.org/drawingml/2006/main">
          <a:srgbClr val="0E1822"/>
        </a:solidFill>
        <a:ln xmlns:a="http://schemas.openxmlformats.org/drawingml/2006/main" w="0">
          <a:noFill/>
        </a:ln>
      </c:spPr>
    </c:plotArea>
    <c:plotVisOnly val="1"/>
  </c:chart>
  <c:spPr>
    <a:solidFill xmlns:a="http://schemas.openxmlformats.org/drawingml/2006/main">
      <a:srgbClr val="0E1822"/>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F7F4EE"/>
                </a:solidFill>
              </a:rPr>
              <a:t>Goodput (%) versus backend latency spread</a:t>
            </a:r>
          </a:p>
        </c:rich>
      </c:tx>
      <c:overlay val="0"/>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title>
    <c:plotArea>
      <c:lineChart>
        <c:grouping val="standard"/>
        <c:varyColors val="0"/>
        <c:ser>
          <c:idx val="0"/>
          <c:order val="0"/>
          <c:tx>
            <c:v>Round Robin</c:v>
          </c:tx>
          <c:spPr>
            <a:ln xmlns:a="http://schemas.openxmlformats.org/drawingml/2006/main" w="38100">
              <a:solidFill>
                <a:srgbClr val="3C83D1"/>
              </a:solidFill>
            </a:ln>
          </c:spPr>
          <c:marker>
            <c:symbol val="circle"/>
            <c:size val="8"/>
            <c:spPr>
              <a:solidFill xmlns:a="http://schemas.openxmlformats.org/drawingml/2006/main">
                <a:srgbClr val="3C83D1"/>
              </a:solidFill>
            </c:spPr>
          </c:marker>
          <c:cat>
            <c:strLit>
              <c:ptCount val="6"/>
              <c:pt idx="0">
                <c:v>1x</c:v>
              </c:pt>
              <c:pt idx="1">
                <c:v>2x</c:v>
              </c:pt>
              <c:pt idx="2">
                <c:v>3x</c:v>
              </c:pt>
              <c:pt idx="3">
                <c:v>5x</c:v>
              </c:pt>
              <c:pt idx="4">
                <c:v>8x</c:v>
              </c:pt>
              <c:pt idx="5">
                <c:v>12x</c:v>
              </c:pt>
            </c:strLit>
          </c:cat>
          <c:val>
            <c:numLit>
              <c:formatCode>General</c:formatCode>
              <c:ptCount val="6"/>
              <c:pt idx="0">
                <c:v>100</c:v>
              </c:pt>
              <c:pt idx="1">
                <c:v>100</c:v>
              </c:pt>
              <c:pt idx="2">
                <c:v>100</c:v>
              </c:pt>
              <c:pt idx="3">
                <c:v>100</c:v>
              </c:pt>
              <c:pt idx="4">
                <c:v>71.3</c:v>
              </c:pt>
              <c:pt idx="5">
                <c:v>49.8</c:v>
              </c:pt>
            </c:numLit>
          </c:val>
          <c:smooth val="0"/>
        </c:ser>
        <c:ser>
          <c:idx val="1"/>
          <c:order val="1"/>
          <c:tx>
            <c:v>Q-learning</c:v>
          </c:tx>
          <c:spPr>
            <a:ln xmlns:a="http://schemas.openxmlformats.org/drawingml/2006/main" w="38100">
              <a:solidFill>
                <a:srgbClr val="E16A3D"/>
              </a:solidFill>
            </a:ln>
          </c:spPr>
          <c:marker>
            <c:symbol val="circle"/>
            <c:size val="8"/>
            <c:spPr>
              <a:solidFill xmlns:a="http://schemas.openxmlformats.org/drawingml/2006/main">
                <a:srgbClr val="E16A3D"/>
              </a:solidFill>
            </c:spPr>
          </c:marker>
          <c:cat>
            <c:strLit>
              <c:ptCount val="6"/>
              <c:pt idx="0">
                <c:v>1x</c:v>
              </c:pt>
              <c:pt idx="1">
                <c:v>2x</c:v>
              </c:pt>
              <c:pt idx="2">
                <c:v>3x</c:v>
              </c:pt>
              <c:pt idx="3">
                <c:v>5x</c:v>
              </c:pt>
              <c:pt idx="4">
                <c:v>8x</c:v>
              </c:pt>
              <c:pt idx="5">
                <c:v>12x</c:v>
              </c:pt>
            </c:strLit>
          </c:cat>
          <c:val>
            <c:numLit>
              <c:formatCode>General</c:formatCode>
              <c:ptCount val="6"/>
              <c:pt idx="0">
                <c:v>100</c:v>
              </c:pt>
              <c:pt idx="1">
                <c:v>100</c:v>
              </c:pt>
              <c:pt idx="2">
                <c:v>100</c:v>
              </c:pt>
              <c:pt idx="3">
                <c:v>99.8</c:v>
              </c:pt>
              <c:pt idx="4">
                <c:v>99.1</c:v>
              </c:pt>
              <c:pt idx="5">
                <c:v>93.7</c:v>
              </c:pt>
            </c:numLit>
          </c:val>
          <c:smooth val="0"/>
        </c:ser>
        <c:ser>
          <c:idx val="2"/>
          <c:order val="2"/>
          <c:tx>
            <c:v>EMA</c:v>
          </c:tx>
          <c:spPr>
            <a:ln xmlns:a="http://schemas.openxmlformats.org/drawingml/2006/main" w="38100">
              <a:solidFill>
                <a:srgbClr val="1E9C73"/>
              </a:solidFill>
            </a:ln>
          </c:spPr>
          <c:marker>
            <c:symbol val="circle"/>
            <c:size val="8"/>
            <c:spPr>
              <a:solidFill xmlns:a="http://schemas.openxmlformats.org/drawingml/2006/main">
                <a:srgbClr val="1E9C73"/>
              </a:solidFill>
            </c:spPr>
          </c:marker>
          <c:cat>
            <c:strLit>
              <c:ptCount val="6"/>
              <c:pt idx="0">
                <c:v>1x</c:v>
              </c:pt>
              <c:pt idx="1">
                <c:v>2x</c:v>
              </c:pt>
              <c:pt idx="2">
                <c:v>3x</c:v>
              </c:pt>
              <c:pt idx="3">
                <c:v>5x</c:v>
              </c:pt>
              <c:pt idx="4">
                <c:v>8x</c:v>
              </c:pt>
              <c:pt idx="5">
                <c:v>12x</c:v>
              </c:pt>
            </c:strLit>
          </c:cat>
          <c:val>
            <c:numLit>
              <c:formatCode>General</c:formatCode>
              <c:ptCount val="6"/>
              <c:pt idx="0">
                <c:v>100</c:v>
              </c:pt>
              <c:pt idx="1">
                <c:v>100</c:v>
              </c:pt>
              <c:pt idx="2">
                <c:v>100</c:v>
              </c:pt>
              <c:pt idx="3">
                <c:v>99.7</c:v>
              </c:pt>
              <c:pt idx="4">
                <c:v>94.8</c:v>
              </c:pt>
              <c:pt idx="5">
                <c:v>87.2</c:v>
              </c:pt>
            </c:numLit>
          </c:val>
          <c:smooth val="0"/>
        </c:ser>
        <c:dLbls>
          <c:txPr>
            <a:bodyPr xmlns:a="http://schemas.openxmlformats.org/drawingml/2006/main" anchorCtr="1"/>
            <a:lstStyle xmlns:a="http://schemas.openxmlformats.org/drawingml/2006/main"/>
            <a:p xmlns:a="http://schemas.openxmlformats.org/drawingml/2006/main">
              <a:pPr>
                <a:defRPr sz="1725" b="1">
                  <a:solidFill>
                    <a:srgbClr val="F7F4EE"/>
                  </a:solidFil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A0ABB5"/>
            </a:solidFill>
          </a:ln>
        </c:spPr>
        <c:txPr>
          <a:bodyPr xmlns:a="http://schemas.openxmlformats.org/drawingml/2006/main" anchorCtr="1"/>
          <a:lstStyle xmlns:a="http://schemas.openxmlformats.org/drawingml/2006/main"/>
          <a:p xmlns:a="http://schemas.openxmlformats.org/drawingml/2006/main">
            <a:pPr>
              <a:defRPr sz="1500">
                <a:solidFill>
                  <a:srgbClr val="D8D3CB"/>
                </a:solidFill>
              </a:defRPr>
            </a:pPr>
          </a:p>
        </c:txPr>
        <c:crossAx val="48672768"/>
      </c:catAx>
      <c:valAx>
        <c:axId val="48672768"/>
        <c:scaling>
          <c:orientation val="minMax"/>
          <c:max val="105"/>
          <c:min val="0"/>
        </c:scaling>
        <c:delete val="0"/>
        <c:axPos val="l"/>
        <c:majorGridlines>
          <c:spPr>
            <a:ln xmlns:a="http://schemas.openxmlformats.org/drawingml/2006/main" w="9525">
              <a:solidFill>
                <a:srgbClr val="30404F"/>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D8D3CB"/>
                </a:solidFill>
              </a:defRPr>
            </a:pPr>
          </a:p>
        </c:txPr>
        <c:crossAx val="48650112"/>
        <c:crossBetween val="between"/>
      </c:valAx>
      <c:spPr>
        <a:solidFill xmlns:a="http://schemas.openxmlformats.org/drawingml/2006/main">
          <a:srgbClr val="0E1822"/>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D8D3CB"/>
              </a:solidFill>
            </a:defRPr>
          </a:pPr>
        </a:p>
      </c:txPr>
    </c:legend>
    <c:plotVisOnly val="1"/>
  </c:chart>
  <c:spPr>
    <a:solidFill xmlns:a="http://schemas.openxmlformats.org/drawingml/2006/main">
      <a:srgbClr val="0E1822"/>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EMBEDDED SYSTEMS   /   FINAL DA3 REVIEW">
            <a:extLst xmlns:a="http://schemas.openxmlformats.org/drawingml/2006/main">
              <a:ext uri="{FF2B5EF4-FFF2-40B4-BE49-F238E27FC236}">
                <a16:creationId xmlns:a16="http://schemas.microsoft.com/office/drawing/2014/main" id="{3D279163-BDC9-451B-9BA5-3560BB543DE1}"/>
              </a:ext>
            </a:extLst>
          </p:cNvPr>
          <p:cNvSpPr>
            <a:spLocks xmlns:a="http://schemas.openxmlformats.org/drawingml/2006/main" noGrp="1"/>
          </p:cNvSpPr>
          <p:nvPr/>
        </p:nvSpPr>
        <p:spPr>
          <a:xfrm xmlns:a="http://schemas.openxmlformats.org/drawingml/2006/main">
            <a:off x="762000" y="8763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A0ABB5"/>
                </a:solidFill>
              </a:defRPr>
            </a:defPPr>
            <a:lvl1pPr>
              <a:defRPr sz="1425" b="0">
                <a:solidFill>
                  <a:srgbClr val="A0ABB5"/>
                </a:solidFill>
              </a:defRPr>
            </a:lvl1pPr>
            <a:lvl2pPr>
              <a:defRPr sz="1425" b="0">
                <a:solidFill>
                  <a:srgbClr val="A0ABB5"/>
                </a:solidFill>
              </a:defRPr>
            </a:lvl2pPr>
            <a:lvl3pPr>
              <a:defRPr sz="1425" b="0">
                <a:solidFill>
                  <a:srgbClr val="A0ABB5"/>
                </a:solidFill>
              </a:defRPr>
            </a:lvl3pPr>
            <a:lvl4pPr>
              <a:defRPr sz="1425" b="0">
                <a:solidFill>
                  <a:srgbClr val="A0ABB5"/>
                </a:solidFill>
              </a:defRPr>
            </a:lvl4pPr>
            <a:lvl5pPr>
              <a:defRPr sz="1425" b="0">
                <a:solidFill>
                  <a:srgbClr val="A0ABB5"/>
                </a:solidFill>
              </a:defRPr>
            </a:lvl5pPr>
            <a:lvl6pPr>
              <a:defRPr sz="1425" b="0">
                <a:solidFill>
                  <a:srgbClr val="A0ABB5"/>
                </a:solidFill>
              </a:defRPr>
            </a:lvl6pPr>
            <a:lvl7pPr>
              <a:defRPr sz="1425" b="0">
                <a:solidFill>
                  <a:srgbClr val="A0ABB5"/>
                </a:solidFill>
              </a:defRPr>
            </a:lvl7pPr>
            <a:lvl8pPr>
              <a:defRPr sz="1425" b="0">
                <a:solidFill>
                  <a:srgbClr val="A0ABB5"/>
                </a:solidFill>
              </a:defRPr>
            </a:lvl8pPr>
            <a:lvl9pPr>
              <a:defRPr sz="1425" b="0">
                <a:solidFill>
                  <a:srgbClr val="A0ABB5"/>
                </a:solidFill>
              </a:defRPr>
            </a:lvl9pPr>
          </a:lstStyle>
          <a:p xmlns:a="http://schemas.openxmlformats.org/drawingml/2006/main">
            <a:pPr>
              <a:defRPr sz="1425" b="0">
                <a:solidFill>
                  <a:srgbClr val="A0ABB5"/>
                </a:solidFill>
              </a:defRPr>
            </a:pPr>
            <a:r>
              <a:rPr sz="1425" b="0">
                <a:solidFill>
                  <a:srgbClr val="A0ABB5"/>
                </a:solidFill>
              </a:rPr>
              <a:t>EMBEDDED SYSTEMS   /   FINAL DA3 REVIEW</a:t>
            </a:r>
          </a:p>
        </p:txBody>
      </p:sp>
      <p:sp>
        <p:nvSpPr>
          <p:cNvPr id="3" name="ESP32 RL&#10;Load Balancer">
            <a:extLst xmlns:a="http://schemas.openxmlformats.org/drawingml/2006/main">
              <a:ext uri="{FF2B5EF4-FFF2-40B4-BE49-F238E27FC236}">
                <a16:creationId xmlns:a16="http://schemas.microsoft.com/office/drawing/2014/main" id="{2EF9DA63-6AA5-48E4-A5C4-18C33D0DDD14}"/>
              </a:ext>
            </a:extLst>
          </p:cNvPr>
          <p:cNvSpPr>
            <a:spLocks xmlns:a="http://schemas.openxmlformats.org/drawingml/2006/main" noGrp="1"/>
          </p:cNvSpPr>
          <p:nvPr/>
        </p:nvSpPr>
        <p:spPr>
          <a:xfrm xmlns:a="http://schemas.openxmlformats.org/drawingml/2006/main">
            <a:off x="762000" y="1600200"/>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850" b="1">
                <a:solidFill>
                  <a:srgbClr val="F7F4EE"/>
                </a:solidFill>
              </a:defRPr>
            </a:defPPr>
            <a:lvl1pPr>
              <a:defRPr sz="5850" b="1">
                <a:solidFill>
                  <a:srgbClr val="F7F4EE"/>
                </a:solidFill>
              </a:defRPr>
            </a:lvl1pPr>
            <a:lvl2pPr>
              <a:defRPr sz="5850" b="1">
                <a:solidFill>
                  <a:srgbClr val="F7F4EE"/>
                </a:solidFill>
              </a:defRPr>
            </a:lvl2pPr>
            <a:lvl3pPr>
              <a:defRPr sz="5850" b="1">
                <a:solidFill>
                  <a:srgbClr val="F7F4EE"/>
                </a:solidFill>
              </a:defRPr>
            </a:lvl3pPr>
            <a:lvl4pPr>
              <a:defRPr sz="5850" b="1">
                <a:solidFill>
                  <a:srgbClr val="F7F4EE"/>
                </a:solidFill>
              </a:defRPr>
            </a:lvl4pPr>
            <a:lvl5pPr>
              <a:defRPr sz="5850" b="1">
                <a:solidFill>
                  <a:srgbClr val="F7F4EE"/>
                </a:solidFill>
              </a:defRPr>
            </a:lvl5pPr>
            <a:lvl6pPr>
              <a:defRPr sz="5850" b="1">
                <a:solidFill>
                  <a:srgbClr val="F7F4EE"/>
                </a:solidFill>
              </a:defRPr>
            </a:lvl6pPr>
            <a:lvl7pPr>
              <a:defRPr sz="5850" b="1">
                <a:solidFill>
                  <a:srgbClr val="F7F4EE"/>
                </a:solidFill>
              </a:defRPr>
            </a:lvl7pPr>
            <a:lvl8pPr>
              <a:defRPr sz="5850" b="1">
                <a:solidFill>
                  <a:srgbClr val="F7F4EE"/>
                </a:solidFill>
              </a:defRPr>
            </a:lvl8pPr>
            <a:lvl9pPr>
              <a:defRPr sz="5850" b="1">
                <a:solidFill>
                  <a:srgbClr val="F7F4EE"/>
                </a:solidFill>
              </a:defRPr>
            </a:lvl9pPr>
          </a:lstStyle>
          <a:p xmlns:a="http://schemas.openxmlformats.org/drawingml/2006/main">
            <a:pPr>
              <a:defRPr sz="5850" b="1">
                <a:solidFill>
                  <a:srgbClr val="F7F4EE"/>
                </a:solidFill>
              </a:defRPr>
            </a:pPr>
            <a:r>
              <a:rPr sz="5850" b="1">
                <a:solidFill>
                  <a:srgbClr val="F7F4EE"/>
                </a:solidFill>
              </a:rPr>
              <a:t>ESP32 RL</a:t>
            </a:r>
          </a:p>
          <a:p xmlns:a="http://schemas.openxmlformats.org/drawingml/2006/main">
            <a:pPr>
              <a:defRPr sz="5850" b="1">
                <a:solidFill>
                  <a:srgbClr val="F7F4EE"/>
                </a:solidFill>
              </a:defRPr>
            </a:pPr>
            <a:r>
              <a:rPr sz="5850" b="1">
                <a:solidFill>
                  <a:srgbClr val="F7F4EE"/>
                </a:solidFill>
              </a:rPr>
              <a:t>Load Balancer</a:t>
            </a:r>
          </a:p>
        </p:txBody>
      </p:sp>
      <p:sp>
        <p:nvSpPr>
          <p:cNvPr id="4" name="Adaptive traffic routing on an ESP32">
            <a:extLst xmlns:a="http://schemas.openxmlformats.org/drawingml/2006/main">
              <a:ext uri="{FF2B5EF4-FFF2-40B4-BE49-F238E27FC236}">
                <a16:creationId xmlns:a16="http://schemas.microsoft.com/office/drawing/2014/main" id="{7A4ABB9C-FD3C-478A-A856-F4CEEC86F2FB}"/>
              </a:ext>
            </a:extLst>
          </p:cNvPr>
          <p:cNvSpPr>
            <a:spLocks xmlns:a="http://schemas.openxmlformats.org/drawingml/2006/main" noGrp="1"/>
          </p:cNvSpPr>
          <p:nvPr/>
        </p:nvSpPr>
        <p:spPr>
          <a:xfrm xmlns:a="http://schemas.openxmlformats.org/drawingml/2006/main">
            <a:off x="762000" y="39147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Adaptive traffic routing on an ESP32</a:t>
            </a:r>
          </a:p>
        </p:txBody>
      </p:sp>
      <p:sp>
        <p:nvSpPr>
          <p:cNvPr id="5" name="On-device Q-learning with a flash-sale demonstration">
            <a:extLst xmlns:a="http://schemas.openxmlformats.org/drawingml/2006/main">
              <a:ext uri="{FF2B5EF4-FFF2-40B4-BE49-F238E27FC236}">
                <a16:creationId xmlns:a16="http://schemas.microsoft.com/office/drawing/2014/main" id="{2D2D043E-AF23-45AB-AC57-75390CA74C9C}"/>
              </a:ext>
            </a:extLst>
          </p:cNvPr>
          <p:cNvSpPr>
            <a:spLocks xmlns:a="http://schemas.openxmlformats.org/drawingml/2006/main" noGrp="1"/>
          </p:cNvSpPr>
          <p:nvPr/>
        </p:nvSpPr>
        <p:spPr>
          <a:xfrm xmlns:a="http://schemas.openxmlformats.org/drawingml/2006/main">
            <a:off x="762000" y="4524375"/>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D8D3CB"/>
                </a:solidFill>
              </a:defRPr>
            </a:defPPr>
            <a:lvl1pPr>
              <a:defRPr sz="2025" b="0">
                <a:solidFill>
                  <a:srgbClr val="D8D3CB"/>
                </a:solidFill>
              </a:defRPr>
            </a:lvl1pPr>
            <a:lvl2pPr>
              <a:defRPr sz="2025" b="0">
                <a:solidFill>
                  <a:srgbClr val="D8D3CB"/>
                </a:solidFill>
              </a:defRPr>
            </a:lvl2pPr>
            <a:lvl3pPr>
              <a:defRPr sz="2025" b="0">
                <a:solidFill>
                  <a:srgbClr val="D8D3CB"/>
                </a:solidFill>
              </a:defRPr>
            </a:lvl3pPr>
            <a:lvl4pPr>
              <a:defRPr sz="2025" b="0">
                <a:solidFill>
                  <a:srgbClr val="D8D3CB"/>
                </a:solidFill>
              </a:defRPr>
            </a:lvl4pPr>
            <a:lvl5pPr>
              <a:defRPr sz="2025" b="0">
                <a:solidFill>
                  <a:srgbClr val="D8D3CB"/>
                </a:solidFill>
              </a:defRPr>
            </a:lvl5pPr>
            <a:lvl6pPr>
              <a:defRPr sz="2025" b="0">
                <a:solidFill>
                  <a:srgbClr val="D8D3CB"/>
                </a:solidFill>
              </a:defRPr>
            </a:lvl6pPr>
            <a:lvl7pPr>
              <a:defRPr sz="2025" b="0">
                <a:solidFill>
                  <a:srgbClr val="D8D3CB"/>
                </a:solidFill>
              </a:defRPr>
            </a:lvl7pPr>
            <a:lvl8pPr>
              <a:defRPr sz="2025" b="0">
                <a:solidFill>
                  <a:srgbClr val="D8D3CB"/>
                </a:solidFill>
              </a:defRPr>
            </a:lvl8pPr>
            <a:lvl9pPr>
              <a:defRPr sz="2025" b="0">
                <a:solidFill>
                  <a:srgbClr val="D8D3CB"/>
                </a:solidFill>
              </a:defRPr>
            </a:lvl9pPr>
          </a:lstStyle>
          <a:p xmlns:a="http://schemas.openxmlformats.org/drawingml/2006/main">
            <a:pPr>
              <a:defRPr sz="2025" b="0">
                <a:solidFill>
                  <a:srgbClr val="D8D3CB"/>
                </a:solidFill>
              </a:defRPr>
            </a:pPr>
            <a:r>
              <a:rPr sz="2025" b="0">
                <a:solidFill>
                  <a:srgbClr val="D8D3CB"/>
                </a:solidFill>
              </a:rPr>
              <a:t>On-device Q-learning with a flash-sale demonstration</a:t>
            </a:r>
          </a:p>
        </p:txBody>
      </p:sp>
      <p:sp>
        <p:nvSpPr>
          <p:cNvPr id="6" name="Final implementation and evaluation">
            <a:extLst xmlns:a="http://schemas.openxmlformats.org/drawingml/2006/main">
              <a:ext uri="{FF2B5EF4-FFF2-40B4-BE49-F238E27FC236}">
                <a16:creationId xmlns:a16="http://schemas.microsoft.com/office/drawing/2014/main" id="{43C1F827-FB6D-47C1-B993-A63D345B13C8}"/>
              </a:ext>
            </a:extLst>
          </p:cNvPr>
          <p:cNvSpPr>
            <a:spLocks xmlns:a="http://schemas.openxmlformats.org/drawingml/2006/main" noGrp="1"/>
          </p:cNvSpPr>
          <p:nvPr/>
        </p:nvSpPr>
        <p:spPr>
          <a:xfrm xmlns:a="http://schemas.openxmlformats.org/drawingml/2006/main">
            <a:off x="762000" y="57721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0ABB5"/>
                </a:solidFill>
              </a:defRPr>
            </a:defPPr>
            <a:lvl1pPr>
              <a:defRPr sz="1575" b="0">
                <a:solidFill>
                  <a:srgbClr val="A0ABB5"/>
                </a:solidFill>
              </a:defRPr>
            </a:lvl1pPr>
            <a:lvl2pPr>
              <a:defRPr sz="1575" b="0">
                <a:solidFill>
                  <a:srgbClr val="A0ABB5"/>
                </a:solidFill>
              </a:defRPr>
            </a:lvl2pPr>
            <a:lvl3pPr>
              <a:defRPr sz="1575" b="0">
                <a:solidFill>
                  <a:srgbClr val="A0ABB5"/>
                </a:solidFill>
              </a:defRPr>
            </a:lvl3pPr>
            <a:lvl4pPr>
              <a:defRPr sz="1575" b="0">
                <a:solidFill>
                  <a:srgbClr val="A0ABB5"/>
                </a:solidFill>
              </a:defRPr>
            </a:lvl4pPr>
            <a:lvl5pPr>
              <a:defRPr sz="1575" b="0">
                <a:solidFill>
                  <a:srgbClr val="A0ABB5"/>
                </a:solidFill>
              </a:defRPr>
            </a:lvl5pPr>
            <a:lvl6pPr>
              <a:defRPr sz="1575" b="0">
                <a:solidFill>
                  <a:srgbClr val="A0ABB5"/>
                </a:solidFill>
              </a:defRPr>
            </a:lvl6pPr>
            <a:lvl7pPr>
              <a:defRPr sz="1575" b="0">
                <a:solidFill>
                  <a:srgbClr val="A0ABB5"/>
                </a:solidFill>
              </a:defRPr>
            </a:lvl7pPr>
            <a:lvl8pPr>
              <a:defRPr sz="1575" b="0">
                <a:solidFill>
                  <a:srgbClr val="A0ABB5"/>
                </a:solidFill>
              </a:defRPr>
            </a:lvl8pPr>
            <a:lvl9pPr>
              <a:defRPr sz="1575" b="0">
                <a:solidFill>
                  <a:srgbClr val="A0ABB5"/>
                </a:solidFill>
              </a:defRPr>
            </a:lvl9pPr>
          </a:lstStyle>
          <a:p xmlns:a="http://schemas.openxmlformats.org/drawingml/2006/main">
            <a:pPr>
              <a:defRPr sz="1575" b="0">
                <a:solidFill>
                  <a:srgbClr val="A0ABB5"/>
                </a:solidFill>
              </a:defRPr>
            </a:pPr>
            <a:r>
              <a:rPr sz="1575" b="0">
                <a:solidFill>
                  <a:srgbClr val="A0ABB5"/>
                </a:solidFill>
              </a:rPr>
              <a:t>Final implementation and evaluation</a:t>
            </a:r>
          </a:p>
        </p:txBody>
      </p:sp>
    </p:spTree>
    <p:extLst>
      <p:ext uri="{BB962C8B-B14F-4D97-AF65-F5344CB8AC3E}">
        <p14:creationId xmlns:p14="http://schemas.microsoft.com/office/powerpoint/2010/main" val="130802491"/>
      </p:ext>
    </p:extLst>
  </p:cSld>
</p:sld>
</file>

<file path=ppt/slides/slide2.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FINAL DA3 REVIEW">
            <a:extLst xmlns:a="http://schemas.openxmlformats.org/drawingml/2006/main">
              <a:ext uri="{FF2B5EF4-FFF2-40B4-BE49-F238E27FC236}">
                <a16:creationId xmlns:a16="http://schemas.microsoft.com/office/drawing/2014/main" id="{1D512E1E-4E04-42FB-B2C4-F98C93BA79B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FINAL DA3 REVIEW</a:t>
            </a:r>
          </a:p>
        </p:txBody>
      </p:sp>
      <p:sp>
        <p:nvSpPr>
          <p:cNvPr id="3" name="Project team">
            <a:extLst xmlns:a="http://schemas.openxmlformats.org/drawingml/2006/main">
              <a:ext uri="{FF2B5EF4-FFF2-40B4-BE49-F238E27FC236}">
                <a16:creationId xmlns:a16="http://schemas.microsoft.com/office/drawing/2014/main" id="{7DD7A7F8-5CF6-4BBB-817E-C924A11ECEA7}"/>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Project team</a:t>
            </a:r>
          </a:p>
        </p:txBody>
      </p:sp>
      <p:sp>
        <p:nvSpPr>
          <p:cNvPr id="4" name="02">
            <a:extLst xmlns:a="http://schemas.openxmlformats.org/drawingml/2006/main">
              <a:ext uri="{FF2B5EF4-FFF2-40B4-BE49-F238E27FC236}">
                <a16:creationId xmlns:a16="http://schemas.microsoft.com/office/drawing/2014/main" id="{DD13B94B-CED3-4346-8CD8-CDE0A1559845}"/>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02</a:t>
            </a:r>
          </a:p>
        </p:txBody>
      </p:sp>
      <p:sp>
        <p:nvSpPr>
          <p:cNvPr id="5" name="Bhuvan Bharat Nayak">
            <a:extLst xmlns:a="http://schemas.openxmlformats.org/drawingml/2006/main">
              <a:ext uri="{FF2B5EF4-FFF2-40B4-BE49-F238E27FC236}">
                <a16:creationId xmlns:a16="http://schemas.microsoft.com/office/drawing/2014/main" id="{F50A37AE-3436-4453-AFD4-0AA2B29B8720}"/>
              </a:ext>
            </a:extLst>
          </p:cNvPr>
          <p:cNvSpPr>
            <a:spLocks xmlns:a="http://schemas.openxmlformats.org/drawingml/2006/main" noGrp="1"/>
          </p:cNvSpPr>
          <p:nvPr/>
        </p:nvSpPr>
        <p:spPr>
          <a:xfrm xmlns:a="http://schemas.openxmlformats.org/drawingml/2006/main">
            <a:off x="762000" y="2143125"/>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Bhuvan Bharat Nayak</a:t>
            </a:r>
          </a:p>
        </p:txBody>
      </p:sp>
      <p:sp>
        <p:nvSpPr>
          <p:cNvPr id="6" name="24BCE5549">
            <a:extLst xmlns:a="http://schemas.openxmlformats.org/drawingml/2006/main">
              <a:ext uri="{FF2B5EF4-FFF2-40B4-BE49-F238E27FC236}">
                <a16:creationId xmlns:a16="http://schemas.microsoft.com/office/drawing/2014/main" id="{8A7FADE9-F05F-462E-BE34-1C6D2C217790}"/>
              </a:ext>
            </a:extLst>
          </p:cNvPr>
          <p:cNvSpPr>
            <a:spLocks xmlns:a="http://schemas.openxmlformats.org/drawingml/2006/main" noGrp="1"/>
          </p:cNvSpPr>
          <p:nvPr/>
        </p:nvSpPr>
        <p:spPr>
          <a:xfrm xmlns:a="http://schemas.openxmlformats.org/drawingml/2006/main">
            <a:off x="8763000" y="21717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24BCE5549</a:t>
            </a:r>
          </a:p>
        </p:txBody>
      </p:sp>
      <p:sp>
        <p:nvSpPr>
          <p:cNvPr id="7" name="Siddharth Sameer Nevgi">
            <a:extLst xmlns:a="http://schemas.openxmlformats.org/drawingml/2006/main">
              <a:ext uri="{FF2B5EF4-FFF2-40B4-BE49-F238E27FC236}">
                <a16:creationId xmlns:a16="http://schemas.microsoft.com/office/drawing/2014/main" id="{2595602A-DF7A-4F96-A9FF-3BA7336D0A9B}"/>
              </a:ext>
            </a:extLst>
          </p:cNvPr>
          <p:cNvSpPr>
            <a:spLocks xmlns:a="http://schemas.openxmlformats.org/drawingml/2006/main" noGrp="1"/>
          </p:cNvSpPr>
          <p:nvPr/>
        </p:nvSpPr>
        <p:spPr>
          <a:xfrm xmlns:a="http://schemas.openxmlformats.org/drawingml/2006/main">
            <a:off x="762000" y="3009900"/>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Siddharth Sameer Nevgi</a:t>
            </a:r>
          </a:p>
        </p:txBody>
      </p:sp>
      <p:sp>
        <p:nvSpPr>
          <p:cNvPr id="8" name="24BCE5550">
            <a:extLst xmlns:a="http://schemas.openxmlformats.org/drawingml/2006/main">
              <a:ext uri="{FF2B5EF4-FFF2-40B4-BE49-F238E27FC236}">
                <a16:creationId xmlns:a16="http://schemas.microsoft.com/office/drawing/2014/main" id="{B0C8FD9A-875C-4F9F-8CAE-A2E9C9A773B9}"/>
              </a:ext>
            </a:extLst>
          </p:cNvPr>
          <p:cNvSpPr>
            <a:spLocks xmlns:a="http://schemas.openxmlformats.org/drawingml/2006/main" noGrp="1"/>
          </p:cNvSpPr>
          <p:nvPr/>
        </p:nvSpPr>
        <p:spPr>
          <a:xfrm xmlns:a="http://schemas.openxmlformats.org/drawingml/2006/main">
            <a:off x="8763000" y="30384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24BCE5550</a:t>
            </a:r>
          </a:p>
        </p:txBody>
      </p:sp>
      <p:sp>
        <p:nvSpPr>
          <p:cNvPr id="9" name="Abhyuday Vaish">
            <a:extLst xmlns:a="http://schemas.openxmlformats.org/drawingml/2006/main">
              <a:ext uri="{FF2B5EF4-FFF2-40B4-BE49-F238E27FC236}">
                <a16:creationId xmlns:a16="http://schemas.microsoft.com/office/drawing/2014/main" id="{9BC533BC-2E1F-4F79-A658-5A973F544631}"/>
              </a:ext>
            </a:extLst>
          </p:cNvPr>
          <p:cNvSpPr>
            <a:spLocks xmlns:a="http://schemas.openxmlformats.org/drawingml/2006/main" noGrp="1"/>
          </p:cNvSpPr>
          <p:nvPr/>
        </p:nvSpPr>
        <p:spPr>
          <a:xfrm xmlns:a="http://schemas.openxmlformats.org/drawingml/2006/main">
            <a:off x="762000" y="3876675"/>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Abhyuday Vaish</a:t>
            </a:r>
          </a:p>
        </p:txBody>
      </p:sp>
      <p:sp>
        <p:nvSpPr>
          <p:cNvPr id="10" name="24BCE5561">
            <a:extLst xmlns:a="http://schemas.openxmlformats.org/drawingml/2006/main">
              <a:ext uri="{FF2B5EF4-FFF2-40B4-BE49-F238E27FC236}">
                <a16:creationId xmlns:a16="http://schemas.microsoft.com/office/drawing/2014/main" id="{B26A23E4-7DF0-4471-A6AA-26B3BFFCD96F}"/>
              </a:ext>
            </a:extLst>
          </p:cNvPr>
          <p:cNvSpPr>
            <a:spLocks xmlns:a="http://schemas.openxmlformats.org/drawingml/2006/main" noGrp="1"/>
          </p:cNvSpPr>
          <p:nvPr/>
        </p:nvSpPr>
        <p:spPr>
          <a:xfrm xmlns:a="http://schemas.openxmlformats.org/drawingml/2006/main">
            <a:off x="8763000" y="3905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24BCE5561</a:t>
            </a:r>
          </a:p>
        </p:txBody>
      </p:sp>
      <p:sp>
        <p:nvSpPr>
          <p:cNvPr id="11" name="Tanish Somashekhar Desai">
            <a:extLst xmlns:a="http://schemas.openxmlformats.org/drawingml/2006/main">
              <a:ext uri="{FF2B5EF4-FFF2-40B4-BE49-F238E27FC236}">
                <a16:creationId xmlns:a16="http://schemas.microsoft.com/office/drawing/2014/main" id="{5EA223A4-D782-4E73-9F6A-BBF91BCD9709}"/>
              </a:ext>
            </a:extLst>
          </p:cNvPr>
          <p:cNvSpPr>
            <a:spLocks xmlns:a="http://schemas.openxmlformats.org/drawingml/2006/main" noGrp="1"/>
          </p:cNvSpPr>
          <p:nvPr/>
        </p:nvSpPr>
        <p:spPr>
          <a:xfrm xmlns:a="http://schemas.openxmlformats.org/drawingml/2006/main">
            <a:off x="762000" y="4743450"/>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7F4EE"/>
                </a:solidFill>
              </a:defRPr>
            </a:defPPr>
            <a:lvl1pPr>
              <a:defRPr sz="2475" b="1">
                <a:solidFill>
                  <a:srgbClr val="F7F4EE"/>
                </a:solidFill>
              </a:defRPr>
            </a:lvl1pPr>
            <a:lvl2pPr>
              <a:defRPr sz="2475" b="1">
                <a:solidFill>
                  <a:srgbClr val="F7F4EE"/>
                </a:solidFill>
              </a:defRPr>
            </a:lvl2pPr>
            <a:lvl3pPr>
              <a:defRPr sz="2475" b="1">
                <a:solidFill>
                  <a:srgbClr val="F7F4EE"/>
                </a:solidFill>
              </a:defRPr>
            </a:lvl3pPr>
            <a:lvl4pPr>
              <a:defRPr sz="2475" b="1">
                <a:solidFill>
                  <a:srgbClr val="F7F4EE"/>
                </a:solidFill>
              </a:defRPr>
            </a:lvl4pPr>
            <a:lvl5pPr>
              <a:defRPr sz="2475" b="1">
                <a:solidFill>
                  <a:srgbClr val="F7F4EE"/>
                </a:solidFill>
              </a:defRPr>
            </a:lvl5pPr>
            <a:lvl6pPr>
              <a:defRPr sz="2475" b="1">
                <a:solidFill>
                  <a:srgbClr val="F7F4EE"/>
                </a:solidFill>
              </a:defRPr>
            </a:lvl6pPr>
            <a:lvl7pPr>
              <a:defRPr sz="2475" b="1">
                <a:solidFill>
                  <a:srgbClr val="F7F4EE"/>
                </a:solidFill>
              </a:defRPr>
            </a:lvl7pPr>
            <a:lvl8pPr>
              <a:defRPr sz="2475" b="1">
                <a:solidFill>
                  <a:srgbClr val="F7F4EE"/>
                </a:solidFill>
              </a:defRPr>
            </a:lvl8pPr>
            <a:lvl9pPr>
              <a:defRPr sz="2475" b="1">
                <a:solidFill>
                  <a:srgbClr val="F7F4EE"/>
                </a:solidFill>
              </a:defRPr>
            </a:lvl9pPr>
          </a:lstStyle>
          <a:p xmlns:a="http://schemas.openxmlformats.org/drawingml/2006/main">
            <a:pPr>
              <a:defRPr sz="2475" b="1">
                <a:solidFill>
                  <a:srgbClr val="F7F4EE"/>
                </a:solidFill>
              </a:defRPr>
            </a:pPr>
            <a:r>
              <a:rPr sz="2475" b="1">
                <a:solidFill>
                  <a:srgbClr val="F7F4EE"/>
                </a:solidFill>
              </a:rPr>
              <a:t>Tanish Somashekhar Desai</a:t>
            </a:r>
          </a:p>
        </p:txBody>
      </p:sp>
      <p:sp>
        <p:nvSpPr>
          <p:cNvPr id="12" name="24BCE5567">
            <a:extLst xmlns:a="http://schemas.openxmlformats.org/drawingml/2006/main">
              <a:ext uri="{FF2B5EF4-FFF2-40B4-BE49-F238E27FC236}">
                <a16:creationId xmlns:a16="http://schemas.microsoft.com/office/drawing/2014/main" id="{4716B326-9DF2-44F9-A777-5B1D8D936E7F}"/>
              </a:ext>
            </a:extLst>
          </p:cNvPr>
          <p:cNvSpPr>
            <a:spLocks xmlns:a="http://schemas.openxmlformats.org/drawingml/2006/main" noGrp="1"/>
          </p:cNvSpPr>
          <p:nvPr/>
        </p:nvSpPr>
        <p:spPr>
          <a:xfrm xmlns:a="http://schemas.openxmlformats.org/drawingml/2006/main">
            <a:off x="8763000" y="47720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E16A3D"/>
                </a:solidFill>
              </a:defRPr>
            </a:defPPr>
            <a:lvl1pPr>
              <a:defRPr sz="2100" b="0">
                <a:solidFill>
                  <a:srgbClr val="E16A3D"/>
                </a:solidFill>
              </a:defRPr>
            </a:lvl1pPr>
            <a:lvl2pPr>
              <a:defRPr sz="2100" b="0">
                <a:solidFill>
                  <a:srgbClr val="E16A3D"/>
                </a:solidFill>
              </a:defRPr>
            </a:lvl2pPr>
            <a:lvl3pPr>
              <a:defRPr sz="2100" b="0">
                <a:solidFill>
                  <a:srgbClr val="E16A3D"/>
                </a:solidFill>
              </a:defRPr>
            </a:lvl3pPr>
            <a:lvl4pPr>
              <a:defRPr sz="2100" b="0">
                <a:solidFill>
                  <a:srgbClr val="E16A3D"/>
                </a:solidFill>
              </a:defRPr>
            </a:lvl4pPr>
            <a:lvl5pPr>
              <a:defRPr sz="2100" b="0">
                <a:solidFill>
                  <a:srgbClr val="E16A3D"/>
                </a:solidFill>
              </a:defRPr>
            </a:lvl5pPr>
            <a:lvl6pPr>
              <a:defRPr sz="2100" b="0">
                <a:solidFill>
                  <a:srgbClr val="E16A3D"/>
                </a:solidFill>
              </a:defRPr>
            </a:lvl6pPr>
            <a:lvl7pPr>
              <a:defRPr sz="2100" b="0">
                <a:solidFill>
                  <a:srgbClr val="E16A3D"/>
                </a:solidFill>
              </a:defRPr>
            </a:lvl7pPr>
            <a:lvl8pPr>
              <a:defRPr sz="2100" b="0">
                <a:solidFill>
                  <a:srgbClr val="E16A3D"/>
                </a:solidFill>
              </a:defRPr>
            </a:lvl8pPr>
            <a:lvl9pPr>
              <a:defRPr sz="2100" b="0">
                <a:solidFill>
                  <a:srgbClr val="E16A3D"/>
                </a:solidFill>
              </a:defRPr>
            </a:lvl9pPr>
          </a:lstStyle>
          <a:p xmlns:a="http://schemas.openxmlformats.org/drawingml/2006/main">
            <a:pPr>
              <a:defRPr sz="2100" b="0">
                <a:solidFill>
                  <a:srgbClr val="E16A3D"/>
                </a:solidFill>
              </a:defRPr>
            </a:pPr>
            <a:r>
              <a:rPr sz="2100" b="0">
                <a:solidFill>
                  <a:srgbClr val="E16A3D"/>
                </a:solidFill>
              </a:rPr>
              <a:t>24BCE5567</a:t>
            </a:r>
          </a:p>
        </p:txBody>
      </p:sp>
    </p:spTree>
    <p:extLst>
      <p:ext uri="{BB962C8B-B14F-4D97-AF65-F5344CB8AC3E}">
        <p14:creationId xmlns:p14="http://schemas.microsoft.com/office/powerpoint/2010/main" val="1926607339"/>
      </p:ext>
    </p:extLst>
  </p:cSld>
</p:sld>
</file>

<file path=ppt/slides/slide3.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PROJECT CONTEXT">
            <a:extLst xmlns:a="http://schemas.openxmlformats.org/drawingml/2006/main">
              <a:ext uri="{FF2B5EF4-FFF2-40B4-BE49-F238E27FC236}">
                <a16:creationId xmlns:a16="http://schemas.microsoft.com/office/drawing/2014/main" id="{1A2D4996-4010-4800-82D6-88625F4CDE4D}"/>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PROJECT CONTEXT</a:t>
            </a:r>
          </a:p>
        </p:txBody>
      </p:sp>
      <p:sp>
        <p:nvSpPr>
          <p:cNvPr id="3" name="Problem and project objectives">
            <a:extLst xmlns:a="http://schemas.openxmlformats.org/drawingml/2006/main">
              <a:ext uri="{FF2B5EF4-FFF2-40B4-BE49-F238E27FC236}">
                <a16:creationId xmlns:a16="http://schemas.microsoft.com/office/drawing/2014/main" id="{28936510-4D16-4D01-90E9-1805E163C896}"/>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Problem and project objectives</a:t>
            </a:r>
          </a:p>
        </p:txBody>
      </p:sp>
      <p:sp>
        <p:nvSpPr>
          <p:cNvPr id="4" name="03">
            <a:extLst xmlns:a="http://schemas.openxmlformats.org/drawingml/2006/main">
              <a:ext uri="{FF2B5EF4-FFF2-40B4-BE49-F238E27FC236}">
                <a16:creationId xmlns:a16="http://schemas.microsoft.com/office/drawing/2014/main" id="{8CDD902C-9EE9-45F3-99A8-465DCBC4B76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03</a:t>
            </a:r>
          </a:p>
        </p:txBody>
      </p:sp>
      <p:sp>
        <p:nvSpPr>
          <p:cNvPr id="5" name="Problem">
            <a:extLst xmlns:a="http://schemas.openxmlformats.org/drawingml/2006/main">
              <a:ext uri="{FF2B5EF4-FFF2-40B4-BE49-F238E27FC236}">
                <a16:creationId xmlns:a16="http://schemas.microsoft.com/office/drawing/2014/main" id="{82F28327-41EB-4ABC-909F-B25FA3BDB82E}"/>
              </a:ext>
            </a:extLst>
          </p:cNvPr>
          <p:cNvSpPr>
            <a:spLocks xmlns:a="http://schemas.openxmlformats.org/drawingml/2006/main" noGrp="1"/>
          </p:cNvSpPr>
          <p:nvPr/>
        </p:nvSpPr>
        <p:spPr>
          <a:xfrm xmlns:a="http://schemas.openxmlformats.org/drawingml/2006/main">
            <a:off x="762000" y="20764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Problem</a:t>
            </a:r>
          </a:p>
        </p:txBody>
      </p:sp>
      <p:sp>
        <p:nvSpPr>
          <p:cNvPr id="6" name="A fixed traffic split keeps sending requests to a slow backe">
            <a:extLst xmlns:a="http://schemas.openxmlformats.org/drawingml/2006/main">
              <a:ext uri="{FF2B5EF4-FFF2-40B4-BE49-F238E27FC236}">
                <a16:creationId xmlns:a16="http://schemas.microsoft.com/office/drawing/2014/main" id="{E2819F6B-AFF4-4712-A5E5-69573D048E99}"/>
              </a:ext>
            </a:extLst>
          </p:cNvPr>
          <p:cNvSpPr>
            <a:spLocks xmlns:a="http://schemas.openxmlformats.org/drawingml/2006/main" noGrp="1"/>
          </p:cNvSpPr>
          <p:nvPr/>
        </p:nvSpPr>
        <p:spPr>
          <a:xfrm xmlns:a="http://schemas.openxmlformats.org/drawingml/2006/main">
            <a:off x="762000" y="24955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A fixed traffic split keeps sending requests to a slow backend, increasing response time and occupying gateway sessions.</a:t>
            </a:r>
          </a:p>
        </p:txBody>
      </p:sp>
      <p:sp>
        <p:nvSpPr>
          <p:cNvPr id="7" name="Objective">
            <a:extLst xmlns:a="http://schemas.openxmlformats.org/drawingml/2006/main">
              <a:ext uri="{FF2B5EF4-FFF2-40B4-BE49-F238E27FC236}">
                <a16:creationId xmlns:a16="http://schemas.microsoft.com/office/drawing/2014/main" id="{1CEB771D-4EB2-47DF-99C3-B2C7FA8B857D}"/>
              </a:ext>
            </a:extLst>
          </p:cNvPr>
          <p:cNvSpPr>
            <a:spLocks xmlns:a="http://schemas.openxmlformats.org/drawingml/2006/main" noGrp="1"/>
          </p:cNvSpPr>
          <p:nvPr/>
        </p:nvSpPr>
        <p:spPr>
          <a:xfrm xmlns:a="http://schemas.openxmlformats.org/drawingml/2006/main">
            <a:off x="762000" y="33718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Objective</a:t>
            </a:r>
          </a:p>
        </p:txBody>
      </p:sp>
      <p:sp>
        <p:nvSpPr>
          <p:cNvPr id="8" name="Choose a backend from observed session feedback while keepin">
            <a:extLst xmlns:a="http://schemas.openxmlformats.org/drawingml/2006/main">
              <a:ext uri="{FF2B5EF4-FFF2-40B4-BE49-F238E27FC236}">
                <a16:creationId xmlns:a16="http://schemas.microsoft.com/office/drawing/2014/main" id="{61C87F0D-8B7F-4DA8-B95F-B6E413DEB83A}"/>
              </a:ext>
            </a:extLst>
          </p:cNvPr>
          <p:cNvSpPr>
            <a:spLocks xmlns:a="http://schemas.openxmlformats.org/drawingml/2006/main" noGrp="1"/>
          </p:cNvSpPr>
          <p:nvPr/>
        </p:nvSpPr>
        <p:spPr>
          <a:xfrm xmlns:a="http://schemas.openxmlformats.org/drawingml/2006/main">
            <a:off x="762000" y="37909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Choose a backend from observed session feedback while keeping routing decisions on the ESP32.</a:t>
            </a:r>
          </a:p>
        </p:txBody>
      </p:sp>
      <p:sp>
        <p:nvSpPr>
          <p:cNvPr id="9" name="Evaluation">
            <a:extLst xmlns:a="http://schemas.openxmlformats.org/drawingml/2006/main">
              <a:ext uri="{FF2B5EF4-FFF2-40B4-BE49-F238E27FC236}">
                <a16:creationId xmlns:a16="http://schemas.microsoft.com/office/drawing/2014/main" id="{D37D6783-CA41-449D-8635-D0C8AEF88923}"/>
              </a:ext>
            </a:extLst>
          </p:cNvPr>
          <p:cNvSpPr>
            <a:spLocks xmlns:a="http://schemas.openxmlformats.org/drawingml/2006/main" noGrp="1"/>
          </p:cNvSpPr>
          <p:nvPr/>
        </p:nvSpPr>
        <p:spPr>
          <a:xfrm xmlns:a="http://schemas.openxmlformats.org/drawingml/2006/main">
            <a:off x="762000" y="4667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Evaluation</a:t>
            </a:r>
          </a:p>
        </p:txBody>
      </p:sp>
      <p:sp>
        <p:nvSpPr>
          <p:cNvPr id="10" name="Compare Q-learning against Round Robin and EMA under control">
            <a:extLst xmlns:a="http://schemas.openxmlformats.org/drawingml/2006/main">
              <a:ext uri="{FF2B5EF4-FFF2-40B4-BE49-F238E27FC236}">
                <a16:creationId xmlns:a16="http://schemas.microsoft.com/office/drawing/2014/main" id="{E56FE849-A931-4930-B1AA-77E416A30C95}"/>
              </a:ext>
            </a:extLst>
          </p:cNvPr>
          <p:cNvSpPr>
            <a:spLocks xmlns:a="http://schemas.openxmlformats.org/drawingml/2006/main" noGrp="1"/>
          </p:cNvSpPr>
          <p:nvPr/>
        </p:nvSpPr>
        <p:spPr>
          <a:xfrm xmlns:a="http://schemas.openxmlformats.org/drawingml/2006/main">
            <a:off x="762000" y="5086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Compare Q-learning against Round Robin and EMA under controlled backend delays and changing demand.</a:t>
            </a:r>
          </a:p>
        </p:txBody>
      </p:sp>
    </p:spTree>
    <p:extLst>
      <p:ext uri="{BB962C8B-B14F-4D97-AF65-F5344CB8AC3E}">
        <p14:creationId xmlns:p14="http://schemas.microsoft.com/office/powerpoint/2010/main" val="1198467428"/>
      </p:ext>
    </p:extLst>
  </p:cSld>
</p:sld>
</file>

<file path=ppt/slides/slide4.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FINAL REVIEW SCOPE">
            <a:extLst xmlns:a="http://schemas.openxmlformats.org/drawingml/2006/main">
              <a:ext uri="{FF2B5EF4-FFF2-40B4-BE49-F238E27FC236}">
                <a16:creationId xmlns:a16="http://schemas.microsoft.com/office/drawing/2014/main" id="{CBB41F2B-03F0-415B-86D6-3EF69968C4F6}"/>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FINAL REVIEW SCOPE</a:t>
            </a:r>
          </a:p>
        </p:txBody>
      </p:sp>
      <p:sp>
        <p:nvSpPr>
          <p:cNvPr id="3" name="DA3 implementation status">
            <a:extLst xmlns:a="http://schemas.openxmlformats.org/drawingml/2006/main">
              <a:ext uri="{FF2B5EF4-FFF2-40B4-BE49-F238E27FC236}">
                <a16:creationId xmlns:a16="http://schemas.microsoft.com/office/drawing/2014/main" id="{B538FAD9-5F00-420C-B993-9C152037946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DA3 implementation status</a:t>
            </a:r>
          </a:p>
        </p:txBody>
      </p:sp>
      <p:sp>
        <p:nvSpPr>
          <p:cNvPr id="4" name="04">
            <a:extLst xmlns:a="http://schemas.openxmlformats.org/drawingml/2006/main">
              <a:ext uri="{FF2B5EF4-FFF2-40B4-BE49-F238E27FC236}">
                <a16:creationId xmlns:a16="http://schemas.microsoft.com/office/drawing/2014/main" id="{74F306D4-364D-456A-9E6F-2888845BBAC7}"/>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04</a:t>
            </a:r>
          </a:p>
        </p:txBody>
      </p:sp>
      <p:graphicFrame>
        <p:nvGraphicFramePr>
          <p:cNvPr id="5" name="">
            <a:extLst xmlns:a="http://schemas.openxmlformats.org/drawingml/2006/main">
              <a:ext uri="{FF2B5EF4-FFF2-40B4-BE49-F238E27FC236}">
                <a16:creationId xmlns:a16="http://schemas.microsoft.com/office/drawing/2014/main" id="{0C91A3D2-ADA7-4339-9FCC-A88469743379}"/>
              </a:ext>
            </a:extLst>
          </p:cNvPr>
          <p:cNvGraphicFramePr/>
          <p:nvPr/>
        </p:nvGraphicFramePr>
        <p:xfrm>
          <a:off xmlns:a="http://schemas.openxmlformats.org/drawingml/2006/main" x="762000" y="2009775"/>
          <a:ext xmlns:a="http://schemas.openxmlformats.org/drawingml/2006/main" cx="10668000" cy="3571875"/>
        </p:xfrm>
        <a:graphic xmlns:a="http://schemas.openxmlformats.org/drawingml/2006/main">
          <a:graphicData uri="http://schemas.openxmlformats.org/drawingml/2006/table">
            <a:tbl>
              <a:tblPr/>
              <a:tblGrid>
                <a:gridCol w="3143250"/>
                <a:gridCol w="7524750"/>
              </a:tblGrid>
              <a:tr h="595313">
                <a:tc>
                  <a:txBody>
                    <a:bodyPr/>
                    <a:lstStyle/>
                    <a:p>
                      <a:r>
                        <a:rPr sz="1725" b="1">
                          <a:solidFill>
                            <a:srgbClr val="F7F4EE"/>
                          </a:solidFill>
                        </a:rPr>
                        <a:t>Deliverable</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725" b="1">
                          <a:solidFill>
                            <a:srgbClr val="F7F4EE"/>
                          </a:solidFill>
                        </a:rPr>
                        <a:t>DA3 status</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95313">
                <a:tc>
                  <a:txBody>
                    <a:bodyPr/>
                    <a:lstStyle/>
                    <a:p>
                      <a:r>
                        <a:rPr sz="1725" b="0">
                          <a:solidFill>
                            <a:srgbClr val="F7F4EE"/>
                          </a:solidFill>
                        </a:rPr>
                        <a:t>ESP32 gateway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TCP proxy with three selectable strategies</a:t>
                      </a:r>
                    </a:p>
                  </a:txBody>
                  <a:tcPr marL="91440" marR="91440" marT="45720" marB="45720">
                    <a:lnR w="9525">
                      <a:solidFill>
                        <a:srgbClr val="0E1822"/>
                      </a:solidFill>
                      <a:prstDash val="solid"/>
                    </a:lnR>
                    <a:lnB w="9525">
                      <a:solidFill>
                        <a:srgbClr val="0E1822"/>
                      </a:solidFill>
                      <a:prstDash val="solid"/>
                    </a:lnB>
                    <a:solidFill>
                      <a:srgbClr val="0E1822"/>
                    </a:solidFill>
                  </a:tcPr>
                </a:tc>
              </a:tr>
              <a:tr h="595313">
                <a:tc>
                  <a:txBody>
                    <a:bodyPr/>
                    <a:lstStyle/>
                    <a:p>
                      <a:r>
                        <a:rPr sz="1725" b="0">
                          <a:solidFill>
                            <a:srgbClr val="F7F4EE"/>
                          </a:solidFill>
                        </a:rPr>
                        <a:t>FlashPoint UI</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Flash-sale controls, routing view and event-based metrics</a:t>
                      </a:r>
                    </a:p>
                  </a:txBody>
                  <a:tcPr marL="91440" marR="91440" marT="45720" marB="45720">
                    <a:lnR w="9525">
                      <a:solidFill>
                        <a:srgbClr val="0E1822"/>
                      </a:solidFill>
                      <a:prstDash val="solid"/>
                    </a:lnR>
                    <a:lnB w="9525">
                      <a:solidFill>
                        <a:srgbClr val="0E1822"/>
                      </a:solidFill>
                      <a:prstDash val="solid"/>
                    </a:lnB>
                    <a:solidFill>
                      <a:srgbClr val="14202C"/>
                    </a:solidFill>
                  </a:tcPr>
                </a:tc>
              </a:tr>
              <a:tr h="595313">
                <a:tc>
                  <a:txBody>
                    <a:bodyPr/>
                    <a:lstStyle/>
                    <a:p>
                      <a:r>
                        <a:rPr sz="1725" b="0">
                          <a:solidFill>
                            <a:srgbClr val="F7F4EE"/>
                          </a:solidFill>
                        </a:rPr>
                        <a:t>Hardware evaluation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Completed run with team-confirmed results</a:t>
                      </a:r>
                    </a:p>
                  </a:txBody>
                  <a:tcPr marL="91440" marR="91440" marT="45720" marB="45720">
                    <a:lnR w="9525">
                      <a:solidFill>
                        <a:srgbClr val="0E1822"/>
                      </a:solidFill>
                      <a:prstDash val="solid"/>
                    </a:lnR>
                    <a:lnB w="9525">
                      <a:solidFill>
                        <a:srgbClr val="0E1822"/>
                      </a:solidFill>
                      <a:prstDash val="solid"/>
                    </a:lnB>
                    <a:solidFill>
                      <a:srgbClr val="0E1822"/>
                    </a:solidFill>
                  </a:tcPr>
                </a:tc>
              </a:tr>
              <a:tr h="595313">
                <a:tc>
                  <a:txBody>
                    <a:bodyPr/>
                    <a:lstStyle/>
                    <a:p>
                      <a:r>
                        <a:rPr sz="1725" b="0">
                          <a:solidFill>
                            <a:srgbClr val="F7F4EE"/>
                          </a:solidFill>
                        </a:rPr>
                        <a:t>Simulation studies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Three scenarios and backend-latency sweep</a:t>
                      </a:r>
                    </a:p>
                  </a:txBody>
                  <a:tcPr marL="91440" marR="91440" marT="45720" marB="45720">
                    <a:lnR w="9525">
                      <a:solidFill>
                        <a:srgbClr val="0E1822"/>
                      </a:solidFill>
                      <a:prstDash val="solid"/>
                    </a:lnR>
                    <a:lnB w="9525">
                      <a:solidFill>
                        <a:srgbClr val="0E1822"/>
                      </a:solidFill>
                      <a:prstDash val="solid"/>
                    </a:lnB>
                    <a:solidFill>
                      <a:srgbClr val="14202C"/>
                    </a:solidFill>
                  </a:tcPr>
                </a:tc>
              </a:tr>
              <a:tr h="595313">
                <a:tc>
                  <a:txBody>
                    <a:bodyPr/>
                    <a:lstStyle/>
                    <a:p>
                      <a:r>
                        <a:rPr sz="1725" b="0">
                          <a:solidFill>
                            <a:srgbClr val="F7F4EE"/>
                          </a:solidFill>
                        </a:rPr>
                        <a:t>Q-table persistence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Implemented by team in nonvolatile flash. Commit pending</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184852861"/>
      </p:ext>
    </p:extLst>
  </p:cSld>
</p:sld>
</file>

<file path=ppt/slides/slide5.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REQUEST AND TELEMETRY PATHS">
            <a:extLst xmlns:a="http://schemas.openxmlformats.org/drawingml/2006/main">
              <a:ext uri="{FF2B5EF4-FFF2-40B4-BE49-F238E27FC236}">
                <a16:creationId xmlns:a16="http://schemas.microsoft.com/office/drawing/2014/main" id="{7B68781E-B0C4-440D-9A96-75DB93E5D516}"/>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REQUEST AND TELEMETRY PATHS</a:t>
            </a:r>
          </a:p>
        </p:txBody>
      </p:sp>
      <p:sp>
        <p:nvSpPr>
          <p:cNvPr id="3" name="System architecture">
            <a:extLst xmlns:a="http://schemas.openxmlformats.org/drawingml/2006/main">
              <a:ext uri="{FF2B5EF4-FFF2-40B4-BE49-F238E27FC236}">
                <a16:creationId xmlns:a16="http://schemas.microsoft.com/office/drawing/2014/main" id="{CC7B4250-F1B9-4D9D-B4B4-35D203710AD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System architecture</a:t>
            </a:r>
          </a:p>
        </p:txBody>
      </p:sp>
      <p:sp>
        <p:nvSpPr>
          <p:cNvPr id="4" name="05">
            <a:extLst xmlns:a="http://schemas.openxmlformats.org/drawingml/2006/main">
              <a:ext uri="{FF2B5EF4-FFF2-40B4-BE49-F238E27FC236}">
                <a16:creationId xmlns:a16="http://schemas.microsoft.com/office/drawing/2014/main" id="{EB9909E9-1641-4BF2-B59F-357B74D9FBAE}"/>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05</a:t>
            </a:r>
          </a:p>
        </p:txBody>
      </p:sp>
      <p:graphicFrame>
        <p:nvGraphicFramePr>
          <p:cNvPr id="5" name="">
            <a:extLst xmlns:a="http://schemas.openxmlformats.org/drawingml/2006/main">
              <a:ext uri="{FF2B5EF4-FFF2-40B4-BE49-F238E27FC236}">
                <a16:creationId xmlns:a16="http://schemas.microsoft.com/office/drawing/2014/main" id="{DC360F81-3A66-44C2-BDC5-F14A6D4C6A5E}"/>
              </a:ext>
            </a:extLst>
          </p:cNvPr>
          <p:cNvGraphicFramePr/>
          <p:nvPr/>
        </p:nvGraphicFramePr>
        <p:xfrm>
          <a:off xmlns:a="http://schemas.openxmlformats.org/drawingml/2006/main" x="762000" y="2000250"/>
          <a:ext xmlns:a="http://schemas.openxmlformats.org/drawingml/2006/main" cx="10668000" cy="3600450"/>
        </p:xfrm>
        <a:graphic xmlns:a="http://schemas.openxmlformats.org/drawingml/2006/main">
          <a:graphicData uri="http://schemas.openxmlformats.org/drawingml/2006/table">
            <a:tbl>
              <a:tblPr/>
              <a:tblGrid>
                <a:gridCol w="3286125"/>
                <a:gridCol w="7381875"/>
              </a:tblGrid>
              <a:tr h="600075">
                <a:tc>
                  <a:txBody>
                    <a:bodyPr/>
                    <a:lstStyle/>
                    <a:p>
                      <a:r>
                        <a:rPr sz="1725" b="1">
                          <a:solidFill>
                            <a:srgbClr val="F7F4EE"/>
                          </a:solidFill>
                        </a:rPr>
                        <a:t>Stage</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725" b="1">
                          <a:solidFill>
                            <a:srgbClr val="F7F4EE"/>
                          </a:solidFill>
                        </a:rPr>
                        <a:t>Responsibility</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600075">
                <a:tc>
                  <a:txBody>
                    <a:bodyPr/>
                    <a:lstStyle/>
                    <a:p>
                      <a:r>
                        <a:rPr sz="1725" b="0">
                          <a:solidFill>
                            <a:srgbClr val="F7F4EE"/>
                          </a:solidFill>
                        </a:rPr>
                        <a:t>Request generators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Python clients create short-lived requests to the ESP32</a:t>
                      </a:r>
                    </a:p>
                  </a:txBody>
                  <a:tcPr marL="91440" marR="91440" marT="45720" marB="45720">
                    <a:lnR w="9525">
                      <a:solidFill>
                        <a:srgbClr val="0E1822"/>
                      </a:solidFill>
                      <a:prstDash val="solid"/>
                    </a:lnR>
                    <a:lnB w="9525">
                      <a:solidFill>
                        <a:srgbClr val="0E1822"/>
                      </a:solidFill>
                      <a:prstDash val="solid"/>
                    </a:lnB>
                    <a:solidFill>
                      <a:srgbClr val="0E1822"/>
                    </a:solidFill>
                  </a:tcPr>
                </a:tc>
              </a:tr>
              <a:tr h="600075">
                <a:tc>
                  <a:txBody>
                    <a:bodyPr/>
                    <a:lstStyle/>
                    <a:p>
                      <a:r>
                        <a:rPr sz="1725" b="0">
                          <a:solidFill>
                            <a:srgbClr val="F7F4EE"/>
                          </a:solidFill>
                        </a:rPr>
                        <a:t>ESP32 gateway, port 80</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Select a backend, forward bytes and observe session duration</a:t>
                      </a:r>
                    </a:p>
                  </a:txBody>
                  <a:tcPr marL="91440" marR="91440" marT="45720" marB="45720">
                    <a:lnR w="9525">
                      <a:solidFill>
                        <a:srgbClr val="0E1822"/>
                      </a:solidFill>
                      <a:prstDash val="solid"/>
                    </a:lnR>
                    <a:lnB w="9525">
                      <a:solidFill>
                        <a:srgbClr val="0E1822"/>
                      </a:solidFill>
                      <a:prstDash val="solid"/>
                    </a:lnB>
                    <a:solidFill>
                      <a:srgbClr val="14202C"/>
                    </a:solidFill>
                  </a:tcPr>
                </a:tc>
              </a:tr>
              <a:tr h="600075">
                <a:tc>
                  <a:txBody>
                    <a:bodyPr/>
                    <a:lstStyle/>
                    <a:p>
                      <a:r>
                        <a:rPr sz="1725" b="0">
                          <a:solidFill>
                            <a:srgbClr val="F7F4EE"/>
                          </a:solidFill>
                        </a:rPr>
                        <a:t>Laptop backend pool</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Python TCP servers on ports 8080 through 8084</a:t>
                      </a:r>
                    </a:p>
                  </a:txBody>
                  <a:tcPr marL="91440" marR="91440" marT="45720" marB="45720">
                    <a:lnR w="9525">
                      <a:solidFill>
                        <a:srgbClr val="0E1822"/>
                      </a:solidFill>
                      <a:prstDash val="solid"/>
                    </a:lnR>
                    <a:lnB w="9525">
                      <a:solidFill>
                        <a:srgbClr val="0E1822"/>
                      </a:solidFill>
                      <a:prstDash val="solid"/>
                    </a:lnB>
                    <a:solidFill>
                      <a:srgbClr val="0E1822"/>
                    </a:solidFill>
                  </a:tcPr>
                </a:tc>
              </a:tr>
              <a:tr h="600075">
                <a:tc>
                  <a:txBody>
                    <a:bodyPr/>
                    <a:lstStyle/>
                    <a:p>
                      <a:r>
                        <a:rPr sz="1725" b="0">
                          <a:solidFill>
                            <a:srgbClr val="F7F4EE"/>
                          </a:solidFill>
                        </a:rPr>
                        <a:t>Flask + Socket.IO</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Manage servers and generators, publish their events</a:t>
                      </a:r>
                    </a:p>
                  </a:txBody>
                  <a:tcPr marL="91440" marR="91440" marT="45720" marB="45720">
                    <a:lnR w="9525">
                      <a:solidFill>
                        <a:srgbClr val="0E1822"/>
                      </a:solidFill>
                      <a:prstDash val="solid"/>
                    </a:lnR>
                    <a:lnB w="9525">
                      <a:solidFill>
                        <a:srgbClr val="0E1822"/>
                      </a:solidFill>
                      <a:prstDash val="solid"/>
                    </a:lnB>
                    <a:solidFill>
                      <a:srgbClr val="14202C"/>
                    </a:solidFill>
                  </a:tcPr>
                </a:tc>
              </a:tr>
              <a:tr h="600075">
                <a:tc>
                  <a:txBody>
                    <a:bodyPr/>
                    <a:lstStyle/>
                    <a:p>
                      <a:r>
                        <a:rPr sz="1725" b="0">
                          <a:solidFill>
                            <a:srgbClr val="F7F4EE"/>
                          </a:solidFill>
                        </a:rPr>
                        <a:t>Browser dashboard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Correlate request IDs and display routing and outcomes</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291189690"/>
      </p:ext>
    </p:extLst>
  </p:cSld>
</p:sld>
</file>

<file path=ppt/slides/slide6.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EMBEDDED IMPLEMENTATION">
            <a:extLst xmlns:a="http://schemas.openxmlformats.org/drawingml/2006/main">
              <a:ext uri="{FF2B5EF4-FFF2-40B4-BE49-F238E27FC236}">
                <a16:creationId xmlns:a16="http://schemas.microsoft.com/office/drawing/2014/main" id="{485885E7-F29A-400E-B21F-2498FEDA4B18}"/>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EMBEDDED IMPLEMENTATION</a:t>
            </a:r>
          </a:p>
        </p:txBody>
      </p:sp>
      <p:sp>
        <p:nvSpPr>
          <p:cNvPr id="3" name="Firmware design and resource limits">
            <a:extLst xmlns:a="http://schemas.openxmlformats.org/drawingml/2006/main">
              <a:ext uri="{FF2B5EF4-FFF2-40B4-BE49-F238E27FC236}">
                <a16:creationId xmlns:a16="http://schemas.microsoft.com/office/drawing/2014/main" id="{6ACDEAD7-65FD-4327-8A9F-3975C7E0DCF0}"/>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Firmware design and resource limits</a:t>
            </a:r>
          </a:p>
        </p:txBody>
      </p:sp>
      <p:sp>
        <p:nvSpPr>
          <p:cNvPr id="4" name="06">
            <a:extLst xmlns:a="http://schemas.openxmlformats.org/drawingml/2006/main">
              <a:ext uri="{FF2B5EF4-FFF2-40B4-BE49-F238E27FC236}">
                <a16:creationId xmlns:a16="http://schemas.microsoft.com/office/drawing/2014/main" id="{67935474-85B6-440C-B018-ACDAF6F38F68}"/>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06</a:t>
            </a:r>
          </a:p>
        </p:txBody>
      </p:sp>
      <p:sp>
        <p:nvSpPr>
          <p:cNvPr id="5" name="7">
            <a:extLst xmlns:a="http://schemas.openxmlformats.org/drawingml/2006/main">
              <a:ext uri="{FF2B5EF4-FFF2-40B4-BE49-F238E27FC236}">
                <a16:creationId xmlns:a16="http://schemas.microsoft.com/office/drawing/2014/main" id="{D777E403-E473-407B-9BA2-AA29CEABAF73}"/>
              </a:ext>
            </a:extLst>
          </p:cNvPr>
          <p:cNvSpPr>
            <a:spLocks xmlns:a="http://schemas.openxmlformats.org/drawingml/2006/main" noGrp="1"/>
          </p:cNvSpPr>
          <p:nvPr/>
        </p:nvSpPr>
        <p:spPr>
          <a:xfrm xmlns:a="http://schemas.openxmlformats.org/drawingml/2006/main">
            <a:off x="762000" y="2038350"/>
            <a:ext cx="238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E16A3D"/>
                </a:solidFill>
              </a:defRPr>
            </a:defPPr>
            <a:lvl1pPr>
              <a:defRPr sz="8400" b="1">
                <a:solidFill>
                  <a:srgbClr val="E16A3D"/>
                </a:solidFill>
              </a:defRPr>
            </a:lvl1pPr>
            <a:lvl2pPr>
              <a:defRPr sz="8400" b="1">
                <a:solidFill>
                  <a:srgbClr val="E16A3D"/>
                </a:solidFill>
              </a:defRPr>
            </a:lvl2pPr>
            <a:lvl3pPr>
              <a:defRPr sz="8400" b="1">
                <a:solidFill>
                  <a:srgbClr val="E16A3D"/>
                </a:solidFill>
              </a:defRPr>
            </a:lvl3pPr>
            <a:lvl4pPr>
              <a:defRPr sz="8400" b="1">
                <a:solidFill>
                  <a:srgbClr val="E16A3D"/>
                </a:solidFill>
              </a:defRPr>
            </a:lvl4pPr>
            <a:lvl5pPr>
              <a:defRPr sz="8400" b="1">
                <a:solidFill>
                  <a:srgbClr val="E16A3D"/>
                </a:solidFill>
              </a:defRPr>
            </a:lvl5pPr>
            <a:lvl6pPr>
              <a:defRPr sz="8400" b="1">
                <a:solidFill>
                  <a:srgbClr val="E16A3D"/>
                </a:solidFill>
              </a:defRPr>
            </a:lvl6pPr>
            <a:lvl7pPr>
              <a:defRPr sz="8400" b="1">
                <a:solidFill>
                  <a:srgbClr val="E16A3D"/>
                </a:solidFill>
              </a:defRPr>
            </a:lvl7pPr>
            <a:lvl8pPr>
              <a:defRPr sz="8400" b="1">
                <a:solidFill>
                  <a:srgbClr val="E16A3D"/>
                </a:solidFill>
              </a:defRPr>
            </a:lvl8pPr>
            <a:lvl9pPr>
              <a:defRPr sz="8400" b="1">
                <a:solidFill>
                  <a:srgbClr val="E16A3D"/>
                </a:solidFill>
              </a:defRPr>
            </a:lvl9pPr>
          </a:lstStyle>
          <a:p xmlns:a="http://schemas.openxmlformats.org/drawingml/2006/main">
            <a:pPr>
              <a:defRPr sz="8400" b="1">
                <a:solidFill>
                  <a:srgbClr val="E16A3D"/>
                </a:solidFill>
              </a:defRPr>
            </a:pPr>
            <a:r>
              <a:rPr sz="8400" b="1">
                <a:solidFill>
                  <a:srgbClr val="E16A3D"/>
                </a:solidFill>
              </a:rPr>
              <a:t>7</a:t>
            </a:r>
          </a:p>
        </p:txBody>
      </p:sp>
      <p:sp>
        <p:nvSpPr>
          <p:cNvPr id="6" name="concurrent proxy sessions">
            <a:extLst xmlns:a="http://schemas.openxmlformats.org/drawingml/2006/main">
              <a:ext uri="{FF2B5EF4-FFF2-40B4-BE49-F238E27FC236}">
                <a16:creationId xmlns:a16="http://schemas.microsoft.com/office/drawing/2014/main" id="{6552B42E-E130-406B-BB72-1C2E7ED8ABF0}"/>
              </a:ext>
            </a:extLst>
          </p:cNvPr>
          <p:cNvSpPr>
            <a:spLocks xmlns:a="http://schemas.openxmlformats.org/drawingml/2006/main" noGrp="1"/>
          </p:cNvSpPr>
          <p:nvPr/>
        </p:nvSpPr>
        <p:spPr>
          <a:xfrm xmlns:a="http://schemas.openxmlformats.org/drawingml/2006/main">
            <a:off x="762000" y="3533775"/>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7F4EE"/>
                </a:solidFill>
              </a:defRPr>
            </a:defPPr>
            <a:lvl1pPr>
              <a:defRPr sz="2325" b="1">
                <a:solidFill>
                  <a:srgbClr val="F7F4EE"/>
                </a:solidFill>
              </a:defRPr>
            </a:lvl1pPr>
            <a:lvl2pPr>
              <a:defRPr sz="2325" b="1">
                <a:solidFill>
                  <a:srgbClr val="F7F4EE"/>
                </a:solidFill>
              </a:defRPr>
            </a:lvl2pPr>
            <a:lvl3pPr>
              <a:defRPr sz="2325" b="1">
                <a:solidFill>
                  <a:srgbClr val="F7F4EE"/>
                </a:solidFill>
              </a:defRPr>
            </a:lvl3pPr>
            <a:lvl4pPr>
              <a:defRPr sz="2325" b="1">
                <a:solidFill>
                  <a:srgbClr val="F7F4EE"/>
                </a:solidFill>
              </a:defRPr>
            </a:lvl4pPr>
            <a:lvl5pPr>
              <a:defRPr sz="2325" b="1">
                <a:solidFill>
                  <a:srgbClr val="F7F4EE"/>
                </a:solidFill>
              </a:defRPr>
            </a:lvl5pPr>
            <a:lvl6pPr>
              <a:defRPr sz="2325" b="1">
                <a:solidFill>
                  <a:srgbClr val="F7F4EE"/>
                </a:solidFill>
              </a:defRPr>
            </a:lvl6pPr>
            <a:lvl7pPr>
              <a:defRPr sz="2325" b="1">
                <a:solidFill>
                  <a:srgbClr val="F7F4EE"/>
                </a:solidFill>
              </a:defRPr>
            </a:lvl7pPr>
            <a:lvl8pPr>
              <a:defRPr sz="2325" b="1">
                <a:solidFill>
                  <a:srgbClr val="F7F4EE"/>
                </a:solidFill>
              </a:defRPr>
            </a:lvl8pPr>
            <a:lvl9pPr>
              <a:defRPr sz="2325" b="1">
                <a:solidFill>
                  <a:srgbClr val="F7F4EE"/>
                </a:solidFill>
              </a:defRPr>
            </a:lvl9pPr>
          </a:lstStyle>
          <a:p xmlns:a="http://schemas.openxmlformats.org/drawingml/2006/main">
            <a:pPr>
              <a:defRPr sz="2325" b="1">
                <a:solidFill>
                  <a:srgbClr val="F7F4EE"/>
                </a:solidFill>
              </a:defRPr>
            </a:pPr>
            <a:r>
              <a:rPr sz="2325" b="1">
                <a:solidFill>
                  <a:srgbClr val="F7F4EE"/>
                </a:solidFill>
              </a:rPr>
              <a:t>concurrent proxy sessions</a:t>
            </a:r>
          </a:p>
        </p:txBody>
      </p:sp>
      <p:sp>
        <p:nvSpPr>
          <p:cNvPr id="7" name="MAX_CLIENTS in this firmware">
            <a:extLst xmlns:a="http://schemas.openxmlformats.org/drawingml/2006/main">
              <a:ext uri="{FF2B5EF4-FFF2-40B4-BE49-F238E27FC236}">
                <a16:creationId xmlns:a16="http://schemas.microsoft.com/office/drawing/2014/main" id="{92F024EE-DCD9-4DCE-ACC5-FB26056EE7DB}"/>
              </a:ext>
            </a:extLst>
          </p:cNvPr>
          <p:cNvSpPr>
            <a:spLocks xmlns:a="http://schemas.openxmlformats.org/drawingml/2006/main" noGrp="1"/>
          </p:cNvSpPr>
          <p:nvPr/>
        </p:nvSpPr>
        <p:spPr>
          <a:xfrm xmlns:a="http://schemas.openxmlformats.org/drawingml/2006/main">
            <a:off x="762000" y="45529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A0ABB5"/>
                </a:solidFill>
              </a:defRPr>
            </a:defPPr>
            <a:lvl1pPr>
              <a:defRPr sz="1800" b="0">
                <a:solidFill>
                  <a:srgbClr val="A0ABB5"/>
                </a:solidFill>
              </a:defRPr>
            </a:lvl1pPr>
            <a:lvl2pPr>
              <a:defRPr sz="1800" b="0">
                <a:solidFill>
                  <a:srgbClr val="A0ABB5"/>
                </a:solidFill>
              </a:defRPr>
            </a:lvl2pPr>
            <a:lvl3pPr>
              <a:defRPr sz="1800" b="0">
                <a:solidFill>
                  <a:srgbClr val="A0ABB5"/>
                </a:solidFill>
              </a:defRPr>
            </a:lvl3pPr>
            <a:lvl4pPr>
              <a:defRPr sz="1800" b="0">
                <a:solidFill>
                  <a:srgbClr val="A0ABB5"/>
                </a:solidFill>
              </a:defRPr>
            </a:lvl4pPr>
            <a:lvl5pPr>
              <a:defRPr sz="1800" b="0">
                <a:solidFill>
                  <a:srgbClr val="A0ABB5"/>
                </a:solidFill>
              </a:defRPr>
            </a:lvl5pPr>
            <a:lvl6pPr>
              <a:defRPr sz="1800" b="0">
                <a:solidFill>
                  <a:srgbClr val="A0ABB5"/>
                </a:solidFill>
              </a:defRPr>
            </a:lvl6pPr>
            <a:lvl7pPr>
              <a:defRPr sz="1800" b="0">
                <a:solidFill>
                  <a:srgbClr val="A0ABB5"/>
                </a:solidFill>
              </a:defRPr>
            </a:lvl7pPr>
            <a:lvl8pPr>
              <a:defRPr sz="1800" b="0">
                <a:solidFill>
                  <a:srgbClr val="A0ABB5"/>
                </a:solidFill>
              </a:defRPr>
            </a:lvl8pPr>
            <a:lvl9pPr>
              <a:defRPr sz="1800" b="0">
                <a:solidFill>
                  <a:srgbClr val="A0ABB5"/>
                </a:solidFill>
              </a:defRPr>
            </a:lvl9pPr>
          </a:lstStyle>
          <a:p xmlns:a="http://schemas.openxmlformats.org/drawingml/2006/main">
            <a:pPr>
              <a:defRPr sz="1800" b="0">
                <a:solidFill>
                  <a:srgbClr val="A0ABB5"/>
                </a:solidFill>
              </a:defRPr>
            </a:pPr>
            <a:r>
              <a:rPr sz="1800" b="0">
                <a:solidFill>
                  <a:srgbClr val="A0ABB5"/>
                </a:solidFill>
              </a:rPr>
              <a:t>MAX_CLIENTS in this firmware</a:t>
            </a:r>
          </a:p>
        </p:txBody>
      </p:sp>
      <p:sp>
        <p:nvSpPr>
          <p:cNvPr id="8" name="One frontend and one backend socket per session">
            <a:extLst xmlns:a="http://schemas.openxmlformats.org/drawingml/2006/main">
              <a:ext uri="{FF2B5EF4-FFF2-40B4-BE49-F238E27FC236}">
                <a16:creationId xmlns:a16="http://schemas.microsoft.com/office/drawing/2014/main" id="{0C04521B-6DD7-4E38-B927-88F0E600900D}"/>
              </a:ext>
            </a:extLst>
          </p:cNvPr>
          <p:cNvSpPr>
            <a:spLocks xmlns:a="http://schemas.openxmlformats.org/drawingml/2006/main" noGrp="1"/>
          </p:cNvSpPr>
          <p:nvPr/>
        </p:nvSpPr>
        <p:spPr>
          <a:xfrm xmlns:a="http://schemas.openxmlformats.org/drawingml/2006/main">
            <a:off x="5905500" y="2162175"/>
            <a:ext cx="5476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7F4EE"/>
                </a:solidFill>
              </a:defRPr>
            </a:defPPr>
            <a:lvl1pPr>
              <a:defRPr sz="2175" b="1">
                <a:solidFill>
                  <a:srgbClr val="F7F4EE"/>
                </a:solidFill>
              </a:defRPr>
            </a:lvl1pPr>
            <a:lvl2pPr>
              <a:defRPr sz="2175" b="1">
                <a:solidFill>
                  <a:srgbClr val="F7F4EE"/>
                </a:solidFill>
              </a:defRPr>
            </a:lvl2pPr>
            <a:lvl3pPr>
              <a:defRPr sz="2175" b="1">
                <a:solidFill>
                  <a:srgbClr val="F7F4EE"/>
                </a:solidFill>
              </a:defRPr>
            </a:lvl3pPr>
            <a:lvl4pPr>
              <a:defRPr sz="2175" b="1">
                <a:solidFill>
                  <a:srgbClr val="F7F4EE"/>
                </a:solidFill>
              </a:defRPr>
            </a:lvl4pPr>
            <a:lvl5pPr>
              <a:defRPr sz="2175" b="1">
                <a:solidFill>
                  <a:srgbClr val="F7F4EE"/>
                </a:solidFill>
              </a:defRPr>
            </a:lvl5pPr>
            <a:lvl6pPr>
              <a:defRPr sz="2175" b="1">
                <a:solidFill>
                  <a:srgbClr val="F7F4EE"/>
                </a:solidFill>
              </a:defRPr>
            </a:lvl6pPr>
            <a:lvl7pPr>
              <a:defRPr sz="2175" b="1">
                <a:solidFill>
                  <a:srgbClr val="F7F4EE"/>
                </a:solidFill>
              </a:defRPr>
            </a:lvl7pPr>
            <a:lvl8pPr>
              <a:defRPr sz="2175" b="1">
                <a:solidFill>
                  <a:srgbClr val="F7F4EE"/>
                </a:solidFill>
              </a:defRPr>
            </a:lvl8pPr>
            <a:lvl9pPr>
              <a:defRPr sz="2175" b="1">
                <a:solidFill>
                  <a:srgbClr val="F7F4EE"/>
                </a:solidFill>
              </a:defRPr>
            </a:lvl9pPr>
          </a:lstStyle>
          <a:p xmlns:a="http://schemas.openxmlformats.org/drawingml/2006/main">
            <a:pPr>
              <a:defRPr sz="2175" b="1">
                <a:solidFill>
                  <a:srgbClr val="F7F4EE"/>
                </a:solidFill>
              </a:defRPr>
            </a:pPr>
            <a:r>
              <a:rPr sz="2175" b="1">
                <a:solidFill>
                  <a:srgbClr val="F7F4EE"/>
                </a:solidFill>
              </a:rPr>
              <a:t>One frontend and one backend socket per session</a:t>
            </a:r>
          </a:p>
        </p:txBody>
      </p:sp>
      <p:sp>
        <p:nvSpPr>
          <p:cNvPr id="9" name="The main loop services active sessions with a shared 1,024-b">
            <a:extLst xmlns:a="http://schemas.openxmlformats.org/drawingml/2006/main">
              <a:ext uri="{FF2B5EF4-FFF2-40B4-BE49-F238E27FC236}">
                <a16:creationId xmlns:a16="http://schemas.microsoft.com/office/drawing/2014/main" id="{FB3AE53D-633A-44D0-A7FD-B50EE8A41A6E}"/>
              </a:ext>
            </a:extLst>
          </p:cNvPr>
          <p:cNvSpPr>
            <a:spLocks xmlns:a="http://schemas.openxmlformats.org/drawingml/2006/main" noGrp="1"/>
          </p:cNvSpPr>
          <p:nvPr/>
        </p:nvSpPr>
        <p:spPr>
          <a:xfrm xmlns:a="http://schemas.openxmlformats.org/drawingml/2006/main">
            <a:off x="5905500" y="319087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The main loop services active sessions with a shared 1,024-byte buffer.</a:t>
            </a:r>
          </a:p>
        </p:txBody>
      </p:sp>
      <p:sp>
        <p:nvSpPr>
          <p:cNvPr id="10" name="WiFiManager handles setup. Preferences retains the configure">
            <a:extLst xmlns:a="http://schemas.openxmlformats.org/drawingml/2006/main">
              <a:ext uri="{FF2B5EF4-FFF2-40B4-BE49-F238E27FC236}">
                <a16:creationId xmlns:a16="http://schemas.microsoft.com/office/drawing/2014/main" id="{F03CCD82-8F08-4EAA-86D8-3378262A83AC}"/>
              </a:ext>
            </a:extLst>
          </p:cNvPr>
          <p:cNvSpPr>
            <a:spLocks xmlns:a="http://schemas.openxmlformats.org/drawingml/2006/main" noGrp="1"/>
          </p:cNvSpPr>
          <p:nvPr/>
        </p:nvSpPr>
        <p:spPr>
          <a:xfrm xmlns:a="http://schemas.openxmlformats.org/drawingml/2006/main">
            <a:off x="5905500" y="4295775"/>
            <a:ext cx="547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WiFiManager handles setup. Preferences retains the configured laptop IP.</a:t>
            </a:r>
          </a:p>
        </p:txBody>
      </p:sp>
    </p:spTree>
    <p:extLst>
      <p:ext uri="{BB962C8B-B14F-4D97-AF65-F5344CB8AC3E}">
        <p14:creationId xmlns:p14="http://schemas.microsoft.com/office/powerpoint/2010/main" val="298335255"/>
      </p:ext>
    </p:extLst>
  </p:cSld>
</p:sld>
</file>

<file path=ppt/slides/slide7.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ROUTING ALGORITHM">
            <a:extLst xmlns:a="http://schemas.openxmlformats.org/drawingml/2006/main">
              <a:ext uri="{FF2B5EF4-FFF2-40B4-BE49-F238E27FC236}">
                <a16:creationId xmlns:a16="http://schemas.microsoft.com/office/drawing/2014/main" id="{7BBCF56D-8CF1-48C0-A0DB-1F702F17ED30}"/>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ROUTING ALGORITHM</a:t>
            </a:r>
          </a:p>
        </p:txBody>
      </p:sp>
      <p:sp>
        <p:nvSpPr>
          <p:cNvPr id="3" name="Q-learning policy">
            <a:extLst xmlns:a="http://schemas.openxmlformats.org/drawingml/2006/main">
              <a:ext uri="{FF2B5EF4-FFF2-40B4-BE49-F238E27FC236}">
                <a16:creationId xmlns:a16="http://schemas.microsoft.com/office/drawing/2014/main" id="{44B3FA63-B701-4233-A023-64082CFC79D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Q-learning policy</a:t>
            </a:r>
          </a:p>
        </p:txBody>
      </p:sp>
      <p:sp>
        <p:nvSpPr>
          <p:cNvPr id="4" name="07">
            <a:extLst xmlns:a="http://schemas.openxmlformats.org/drawingml/2006/main">
              <a:ext uri="{FF2B5EF4-FFF2-40B4-BE49-F238E27FC236}">
                <a16:creationId xmlns:a16="http://schemas.microsoft.com/office/drawing/2014/main" id="{A03A12C8-9311-4150-88E2-54D6528CE3D1}"/>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07</a:t>
            </a:r>
          </a:p>
        </p:txBody>
      </p:sp>
      <p:graphicFrame>
        <p:nvGraphicFramePr>
          <p:cNvPr id="5" name="">
            <a:extLst xmlns:a="http://schemas.openxmlformats.org/drawingml/2006/main">
              <a:ext uri="{FF2B5EF4-FFF2-40B4-BE49-F238E27FC236}">
                <a16:creationId xmlns:a16="http://schemas.microsoft.com/office/drawing/2014/main" id="{49258E75-C7FF-40AA-9E76-9ED7AEFB05DD}"/>
              </a:ext>
            </a:extLst>
          </p:cNvPr>
          <p:cNvGraphicFramePr/>
          <p:nvPr/>
        </p:nvGraphicFramePr>
        <p:xfrm>
          <a:off xmlns:a="http://schemas.openxmlformats.org/drawingml/2006/main" x="762000" y="2000250"/>
          <a:ext xmlns:a="http://schemas.openxmlformats.org/drawingml/2006/main" cx="10668000" cy="2647950"/>
        </p:xfrm>
        <a:graphic xmlns:a="http://schemas.openxmlformats.org/drawingml/2006/main">
          <a:graphicData uri="http://schemas.openxmlformats.org/drawingml/2006/table">
            <a:tbl>
              <a:tblPr/>
              <a:tblGrid>
                <a:gridCol w="2667000"/>
                <a:gridCol w="8001000"/>
              </a:tblGrid>
              <a:tr h="529590">
                <a:tc>
                  <a:txBody>
                    <a:bodyPr/>
                    <a:lstStyle/>
                    <a:p>
                      <a:r>
                        <a:rPr sz="1725" b="1">
                          <a:solidFill>
                            <a:srgbClr val="F7F4EE"/>
                          </a:solidFill>
                        </a:rPr>
                        <a:t>Component</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725" b="1">
                          <a:solidFill>
                            <a:srgbClr val="F7F4EE"/>
                          </a:solidFill>
                        </a:rPr>
                        <a:t>Firmware behavior</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29590">
                <a:tc>
                  <a:txBody>
                    <a:bodyPr/>
                    <a:lstStyle/>
                    <a:p>
                      <a:r>
                        <a:rPr sz="1725" b="0">
                          <a:solidFill>
                            <a:srgbClr val="F7F4EE"/>
                          </a:solidFill>
                        </a:rPr>
                        <a:t>State and action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Active-session count (0–7), then a backend index</a:t>
                      </a:r>
                    </a:p>
                  </a:txBody>
                  <a:tcPr marL="91440" marR="91440" marT="45720" marB="45720">
                    <a:lnR w="9525">
                      <a:solidFill>
                        <a:srgbClr val="0E1822"/>
                      </a:solidFill>
                      <a:prstDash val="solid"/>
                    </a:lnR>
                    <a:lnB w="9525">
                      <a:solidFill>
                        <a:srgbClr val="0E1822"/>
                      </a:solidFill>
                      <a:prstDash val="solid"/>
                    </a:lnB>
                    <a:solidFill>
                      <a:srgbClr val="0E1822"/>
                    </a:solidFill>
                  </a:tcPr>
                </a:tc>
              </a:tr>
              <a:tr h="529590">
                <a:tc>
                  <a:txBody>
                    <a:bodyPr/>
                    <a:lstStyle/>
                    <a:p>
                      <a:r>
                        <a:rPr sz="1725" b="0">
                          <a:solidFill>
                            <a:srgbClr val="F7F4EE"/>
                          </a:solidFill>
                        </a:rPr>
                        <a:t>Selection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Epsilon-greedy exploration or highest Q-value</a:t>
                      </a:r>
                    </a:p>
                  </a:txBody>
                  <a:tcPr marL="91440" marR="91440" marT="45720" marB="45720">
                    <a:lnR w="9525">
                      <a:solidFill>
                        <a:srgbClr val="0E1822"/>
                      </a:solidFill>
                      <a:prstDash val="solid"/>
                    </a:lnR>
                    <a:lnB w="9525">
                      <a:solidFill>
                        <a:srgbClr val="0E1822"/>
                      </a:solidFill>
                      <a:prstDash val="solid"/>
                    </a:lnB>
                    <a:solidFill>
                      <a:srgbClr val="14202C"/>
                    </a:solidFill>
                  </a:tcPr>
                </a:tc>
              </a:tr>
              <a:tr h="529590">
                <a:tc>
                  <a:txBody>
                    <a:bodyPr/>
                    <a:lstStyle/>
                    <a:p>
                      <a:r>
                        <a:rPr sz="1725" b="0">
                          <a:solidFill>
                            <a:srgbClr val="F7F4EE"/>
                          </a:solidFill>
                        </a:rPr>
                        <a:t>Reward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725" b="0">
                          <a:solidFill>
                            <a:srgbClr val="D8D3CB"/>
                          </a:solidFill>
                        </a:rPr>
                        <a:t>1000 / (duration_ms + 1), or −50 for duration ≥ 2000 ms</a:t>
                      </a:r>
                    </a:p>
                  </a:txBody>
                  <a:tcPr marL="91440" marR="91440" marT="45720" marB="45720">
                    <a:lnR w="9525">
                      <a:solidFill>
                        <a:srgbClr val="0E1822"/>
                      </a:solidFill>
                      <a:prstDash val="solid"/>
                    </a:lnR>
                    <a:lnB w="9525">
                      <a:solidFill>
                        <a:srgbClr val="0E1822"/>
                      </a:solidFill>
                      <a:prstDash val="solid"/>
                    </a:lnB>
                    <a:solidFill>
                      <a:srgbClr val="0E1822"/>
                    </a:solidFill>
                  </a:tcPr>
                </a:tc>
              </a:tr>
              <a:tr h="529590">
                <a:tc>
                  <a:txBody>
                    <a:bodyPr/>
                    <a:lstStyle/>
                    <a:p>
                      <a:r>
                        <a:rPr sz="1725" b="0">
                          <a:solidFill>
                            <a:srgbClr val="F7F4EE"/>
                          </a:solidFill>
                        </a:rPr>
                        <a:t>Parameters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725" b="0">
                          <a:solidFill>
                            <a:srgbClr val="D8D3CB"/>
                          </a:solidFill>
                        </a:rPr>
                        <a:t>α = 0.3, γ = 0.5. ε decays from 1.0 to a 0.05 floor</a:t>
                      </a:r>
                    </a:p>
                  </a:txBody>
                  <a:tcPr marL="91440" marR="91440" marT="45720" marB="45720">
                    <a:lnR w="9525">
                      <a:solidFill>
                        <a:srgbClr val="0E1822"/>
                      </a:solidFill>
                      <a:prstDash val="solid"/>
                    </a:lnR>
                    <a:lnB w="9525">
                      <a:solidFill>
                        <a:srgbClr val="0E1822"/>
                      </a:solidFill>
                      <a:prstDash val="solid"/>
                    </a:lnB>
                    <a:solidFill>
                      <a:srgbClr val="14202C"/>
                    </a:solidFill>
                  </a:tcPr>
                </a:tc>
              </a:tr>
            </a:tbl>
          </a:graphicData>
        </a:graphic>
      </p:graphicFrame>
      <p:sp>
        <p:nvSpPr>
          <p:cNvPr id="6" name="Q(s,a) = Q(s,a) + α [r + γ max Q(s′,a′) − Q(s,a)]">
            <a:extLst xmlns:a="http://schemas.openxmlformats.org/drawingml/2006/main">
              <a:ext uri="{FF2B5EF4-FFF2-40B4-BE49-F238E27FC236}">
                <a16:creationId xmlns:a16="http://schemas.microsoft.com/office/drawing/2014/main" id="{BF42D364-EA74-43DD-9C99-44C9AAC0F043}"/>
              </a:ext>
            </a:extLst>
          </p:cNvPr>
          <p:cNvSpPr>
            <a:spLocks xmlns:a="http://schemas.openxmlformats.org/drawingml/2006/main" noGrp="1"/>
          </p:cNvSpPr>
          <p:nvPr/>
        </p:nvSpPr>
        <p:spPr>
          <a:xfrm xmlns:a="http://schemas.openxmlformats.org/drawingml/2006/main">
            <a:off x="762000" y="50958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E16A3D"/>
                </a:solidFill>
              </a:defRPr>
            </a:defPPr>
            <a:lvl1pPr>
              <a:defRPr sz="2025" b="0">
                <a:solidFill>
                  <a:srgbClr val="E16A3D"/>
                </a:solidFill>
              </a:defRPr>
            </a:lvl1pPr>
            <a:lvl2pPr>
              <a:defRPr sz="2025" b="0">
                <a:solidFill>
                  <a:srgbClr val="E16A3D"/>
                </a:solidFill>
              </a:defRPr>
            </a:lvl2pPr>
            <a:lvl3pPr>
              <a:defRPr sz="2025" b="0">
                <a:solidFill>
                  <a:srgbClr val="E16A3D"/>
                </a:solidFill>
              </a:defRPr>
            </a:lvl3pPr>
            <a:lvl4pPr>
              <a:defRPr sz="2025" b="0">
                <a:solidFill>
                  <a:srgbClr val="E16A3D"/>
                </a:solidFill>
              </a:defRPr>
            </a:lvl4pPr>
            <a:lvl5pPr>
              <a:defRPr sz="2025" b="0">
                <a:solidFill>
                  <a:srgbClr val="E16A3D"/>
                </a:solidFill>
              </a:defRPr>
            </a:lvl5pPr>
            <a:lvl6pPr>
              <a:defRPr sz="2025" b="0">
                <a:solidFill>
                  <a:srgbClr val="E16A3D"/>
                </a:solidFill>
              </a:defRPr>
            </a:lvl6pPr>
            <a:lvl7pPr>
              <a:defRPr sz="2025" b="0">
                <a:solidFill>
                  <a:srgbClr val="E16A3D"/>
                </a:solidFill>
              </a:defRPr>
            </a:lvl7pPr>
            <a:lvl8pPr>
              <a:defRPr sz="2025" b="0">
                <a:solidFill>
                  <a:srgbClr val="E16A3D"/>
                </a:solidFill>
              </a:defRPr>
            </a:lvl8pPr>
            <a:lvl9pPr>
              <a:defRPr sz="2025" b="0">
                <a:solidFill>
                  <a:srgbClr val="E16A3D"/>
                </a:solidFill>
              </a:defRPr>
            </a:lvl9pPr>
          </a:lstStyle>
          <a:p xmlns:a="http://schemas.openxmlformats.org/drawingml/2006/main">
            <a:pPr>
              <a:defRPr sz="2025" b="0">
                <a:solidFill>
                  <a:srgbClr val="E16A3D"/>
                </a:solidFill>
              </a:defRPr>
            </a:pPr>
            <a:r>
              <a:rPr sz="2025" b="0">
                <a:solidFill>
                  <a:srgbClr val="E16A3D"/>
                </a:solidFill>
              </a:rPr>
              <a:t>Q(s,a) = Q(s,a) + α [r + γ max Q(s′,a′) − Q(s,a)]</a:t>
            </a:r>
          </a:p>
        </p:txBody>
      </p:sp>
    </p:spTree>
    <p:extLst>
      <p:ext uri="{BB962C8B-B14F-4D97-AF65-F5344CB8AC3E}">
        <p14:creationId xmlns:p14="http://schemas.microsoft.com/office/powerpoint/2010/main" val="292367907"/>
      </p:ext>
    </p:extLst>
  </p:cSld>
</p:sld>
</file>

<file path=ppt/slides/slide8.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COMPARISON DESIGN">
            <a:extLst xmlns:a="http://schemas.openxmlformats.org/drawingml/2006/main">
              <a:ext uri="{FF2B5EF4-FFF2-40B4-BE49-F238E27FC236}">
                <a16:creationId xmlns:a16="http://schemas.microsoft.com/office/drawing/2014/main" id="{BA20D5E5-EB58-47E7-8D4D-F80320540EAB}"/>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COMPARISON DESIGN</a:t>
            </a:r>
          </a:p>
        </p:txBody>
      </p:sp>
      <p:sp>
        <p:nvSpPr>
          <p:cNvPr id="3" name="Baseline strategies">
            <a:extLst xmlns:a="http://schemas.openxmlformats.org/drawingml/2006/main">
              <a:ext uri="{FF2B5EF4-FFF2-40B4-BE49-F238E27FC236}">
                <a16:creationId xmlns:a16="http://schemas.microsoft.com/office/drawing/2014/main" id="{39D76A1F-AF75-4F06-B24F-7E3167E47A1D}"/>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Baseline strategies</a:t>
            </a:r>
          </a:p>
        </p:txBody>
      </p:sp>
      <p:sp>
        <p:nvSpPr>
          <p:cNvPr id="4" name="08">
            <a:extLst xmlns:a="http://schemas.openxmlformats.org/drawingml/2006/main">
              <a:ext uri="{FF2B5EF4-FFF2-40B4-BE49-F238E27FC236}">
                <a16:creationId xmlns:a16="http://schemas.microsoft.com/office/drawing/2014/main" id="{C043FEC1-2BB7-43D2-9F67-C7ED406D590E}"/>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08</a:t>
            </a:r>
          </a:p>
        </p:txBody>
      </p:sp>
      <p:graphicFrame>
        <p:nvGraphicFramePr>
          <p:cNvPr id="5" name="">
            <a:extLst xmlns:a="http://schemas.openxmlformats.org/drawingml/2006/main">
              <a:ext uri="{FF2B5EF4-FFF2-40B4-BE49-F238E27FC236}">
                <a16:creationId xmlns:a16="http://schemas.microsoft.com/office/drawing/2014/main" id="{12943532-3535-41E5-B95D-8ABE53ECD9A3}"/>
              </a:ext>
            </a:extLst>
          </p:cNvPr>
          <p:cNvGraphicFramePr/>
          <p:nvPr/>
        </p:nvGraphicFramePr>
        <p:xfrm>
          <a:off xmlns:a="http://schemas.openxmlformats.org/drawingml/2006/main" x="762000" y="2076450"/>
          <a:ext xmlns:a="http://schemas.openxmlformats.org/drawingml/2006/main" cx="10668000" cy="2914650"/>
        </p:xfrm>
        <a:graphic xmlns:a="http://schemas.openxmlformats.org/drawingml/2006/main">
          <a:graphicData uri="http://schemas.openxmlformats.org/drawingml/2006/table">
            <a:tbl>
              <a:tblPr/>
              <a:tblGrid>
                <a:gridCol w="2381250"/>
                <a:gridCol w="4095750"/>
                <a:gridCol w="4191000"/>
              </a:tblGrid>
              <a:tr h="728663">
                <a:tc>
                  <a:txBody>
                    <a:bodyPr/>
                    <a:lstStyle/>
                    <a:p>
                      <a:r>
                        <a:rPr sz="1800" b="1">
                          <a:solidFill>
                            <a:srgbClr val="F7F4EE"/>
                          </a:solidFill>
                        </a:rPr>
                        <a:t>Strategy</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00" b="1">
                          <a:solidFill>
                            <a:srgbClr val="F7F4EE"/>
                          </a:solidFill>
                        </a:rPr>
                        <a:t>Decision rule</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00" b="1">
                          <a:solidFill>
                            <a:srgbClr val="F7F4EE"/>
                          </a:solidFill>
                        </a:rPr>
                        <a:t>Practical tradeoff</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728663">
                <a:tc>
                  <a:txBody>
                    <a:bodyPr/>
                    <a:lstStyle/>
                    <a:p>
                      <a:r>
                        <a:rPr sz="1800" b="0">
                          <a:solidFill>
                            <a:srgbClr val="F7F4EE"/>
                          </a:solidFill>
                        </a:rPr>
                        <a:t>Round Robin</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Cycle through backends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Low overhead, ignores backend delays</a:t>
                      </a:r>
                    </a:p>
                  </a:txBody>
                  <a:tcPr marL="91440" marR="91440" marT="45720" marB="45720">
                    <a:lnR w="9525">
                      <a:solidFill>
                        <a:srgbClr val="0E1822"/>
                      </a:solidFill>
                      <a:prstDash val="solid"/>
                    </a:lnR>
                    <a:lnB w="9525">
                      <a:solidFill>
                        <a:srgbClr val="0E1822"/>
                      </a:solidFill>
                      <a:prstDash val="solid"/>
                    </a:lnB>
                    <a:solidFill>
                      <a:srgbClr val="0E1822"/>
                    </a:solidFill>
                  </a:tcPr>
                </a:tc>
              </a:tr>
              <a:tr h="728663">
                <a:tc>
                  <a:txBody>
                    <a:bodyPr/>
                    <a:lstStyle/>
                    <a:p>
                      <a:r>
                        <a:rPr sz="1800" b="0">
                          <a:solidFill>
                            <a:srgbClr val="F7F4EE"/>
                          </a:solidFill>
                        </a:rPr>
                        <a:t>Q-learning</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Highest learned value for a state</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Learns from feedback, needs exploration</a:t>
                      </a:r>
                    </a:p>
                  </a:txBody>
                  <a:tcPr marL="91440" marR="91440" marT="45720" marB="45720">
                    <a:lnR w="9525">
                      <a:solidFill>
                        <a:srgbClr val="0E1822"/>
                      </a:solidFill>
                      <a:prstDash val="solid"/>
                    </a:lnR>
                    <a:lnB w="9525">
                      <a:solidFill>
                        <a:srgbClr val="0E1822"/>
                      </a:solidFill>
                      <a:prstDash val="solid"/>
                    </a:lnB>
                    <a:solidFill>
                      <a:srgbClr val="14202C"/>
                    </a:solidFill>
                  </a:tcPr>
                </a:tc>
              </a:tr>
              <a:tr h="728663">
                <a:tc>
                  <a:txBody>
                    <a:bodyPr/>
                    <a:lstStyle/>
                    <a:p>
                      <a:r>
                        <a:rPr sz="1800" b="0">
                          <a:solidFill>
                            <a:srgbClr val="F7F4EE"/>
                          </a:solidFill>
                        </a:rPr>
                        <a:t>EMA response time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Highest smoothed reward</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Simple adaptation without a state table</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
        <p:nvSpPr>
          <p:cNvPr id="6" name="All three strategies run in the same firmware.">
            <a:extLst xmlns:a="http://schemas.openxmlformats.org/drawingml/2006/main">
              <a:ext uri="{FF2B5EF4-FFF2-40B4-BE49-F238E27FC236}">
                <a16:creationId xmlns:a16="http://schemas.microsoft.com/office/drawing/2014/main" id="{17DFD309-0DD4-4137-8FC7-8B11F5EE0E5D}"/>
              </a:ext>
            </a:extLst>
          </p:cNvPr>
          <p:cNvSpPr>
            <a:spLocks xmlns:a="http://schemas.openxmlformats.org/drawingml/2006/main" noGrp="1"/>
          </p:cNvSpPr>
          <p:nvPr/>
        </p:nvSpPr>
        <p:spPr>
          <a:xfrm xmlns:a="http://schemas.openxmlformats.org/drawingml/2006/main">
            <a:off x="762000" y="53054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E16A3D"/>
                </a:solidFill>
              </a:defRPr>
            </a:defPPr>
            <a:lvl1pPr>
              <a:defRPr sz="2100" b="1">
                <a:solidFill>
                  <a:srgbClr val="E16A3D"/>
                </a:solidFill>
              </a:defRPr>
            </a:lvl1pPr>
            <a:lvl2pPr>
              <a:defRPr sz="2100" b="1">
                <a:solidFill>
                  <a:srgbClr val="E16A3D"/>
                </a:solidFill>
              </a:defRPr>
            </a:lvl2pPr>
            <a:lvl3pPr>
              <a:defRPr sz="2100" b="1">
                <a:solidFill>
                  <a:srgbClr val="E16A3D"/>
                </a:solidFill>
              </a:defRPr>
            </a:lvl3pPr>
            <a:lvl4pPr>
              <a:defRPr sz="2100" b="1">
                <a:solidFill>
                  <a:srgbClr val="E16A3D"/>
                </a:solidFill>
              </a:defRPr>
            </a:lvl4pPr>
            <a:lvl5pPr>
              <a:defRPr sz="2100" b="1">
                <a:solidFill>
                  <a:srgbClr val="E16A3D"/>
                </a:solidFill>
              </a:defRPr>
            </a:lvl5pPr>
            <a:lvl6pPr>
              <a:defRPr sz="2100" b="1">
                <a:solidFill>
                  <a:srgbClr val="E16A3D"/>
                </a:solidFill>
              </a:defRPr>
            </a:lvl6pPr>
            <a:lvl7pPr>
              <a:defRPr sz="2100" b="1">
                <a:solidFill>
                  <a:srgbClr val="E16A3D"/>
                </a:solidFill>
              </a:defRPr>
            </a:lvl7pPr>
            <a:lvl8pPr>
              <a:defRPr sz="2100" b="1">
                <a:solidFill>
                  <a:srgbClr val="E16A3D"/>
                </a:solidFill>
              </a:defRPr>
            </a:lvl8pPr>
            <a:lvl9pPr>
              <a:defRPr sz="2100" b="1">
                <a:solidFill>
                  <a:srgbClr val="E16A3D"/>
                </a:solidFill>
              </a:defRPr>
            </a:lvl9pPr>
          </a:lstStyle>
          <a:p xmlns:a="http://schemas.openxmlformats.org/drawingml/2006/main">
            <a:pPr>
              <a:defRPr sz="2100" b="1">
                <a:solidFill>
                  <a:srgbClr val="E16A3D"/>
                </a:solidFill>
              </a:defRPr>
            </a:pPr>
            <a:r>
              <a:rPr sz="2100" b="1">
                <a:solidFill>
                  <a:srgbClr val="E16A3D"/>
                </a:solidFill>
              </a:rPr>
              <a:t>All three strategies run in the same firmware.</a:t>
            </a:r>
          </a:p>
        </p:txBody>
      </p:sp>
    </p:spTree>
    <p:extLst>
      <p:ext uri="{BB962C8B-B14F-4D97-AF65-F5344CB8AC3E}">
        <p14:creationId xmlns:p14="http://schemas.microsoft.com/office/powerpoint/2010/main" val="264490270"/>
      </p:ext>
    </p:extLst>
  </p:cSld>
</p:sld>
</file>

<file path=ppt/slides/slide9.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DA3 IMPROVEMENT">
            <a:extLst xmlns:a="http://schemas.openxmlformats.org/drawingml/2006/main">
              <a:ext uri="{FF2B5EF4-FFF2-40B4-BE49-F238E27FC236}">
                <a16:creationId xmlns:a16="http://schemas.microsoft.com/office/drawing/2014/main" id="{0CA6E7E2-BDCA-4DB3-9DAA-386B2B760AD1}"/>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DA3 IMPROVEMENT</a:t>
            </a:r>
          </a:p>
        </p:txBody>
      </p:sp>
      <p:sp>
        <p:nvSpPr>
          <p:cNvPr id="3" name="Q-table persistence across restarts">
            <a:extLst xmlns:a="http://schemas.openxmlformats.org/drawingml/2006/main">
              <a:ext uri="{FF2B5EF4-FFF2-40B4-BE49-F238E27FC236}">
                <a16:creationId xmlns:a16="http://schemas.microsoft.com/office/drawing/2014/main" id="{71CB5711-A533-4B13-B4C6-3F370FE5F8AD}"/>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Q-table persistence across restarts</a:t>
            </a:r>
          </a:p>
        </p:txBody>
      </p:sp>
      <p:sp>
        <p:nvSpPr>
          <p:cNvPr id="4" name="09">
            <a:extLst xmlns:a="http://schemas.openxmlformats.org/drawingml/2006/main">
              <a:ext uri="{FF2B5EF4-FFF2-40B4-BE49-F238E27FC236}">
                <a16:creationId xmlns:a16="http://schemas.microsoft.com/office/drawing/2014/main" id="{B3973369-CDC5-4984-A112-D6B423991F8E}"/>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09</a:t>
            </a:r>
          </a:p>
        </p:txBody>
      </p:sp>
      <p:sp>
        <p:nvSpPr>
          <p:cNvPr id="5" name="Previous behavior">
            <a:extLst xmlns:a="http://schemas.openxmlformats.org/drawingml/2006/main">
              <a:ext uri="{FF2B5EF4-FFF2-40B4-BE49-F238E27FC236}">
                <a16:creationId xmlns:a16="http://schemas.microsoft.com/office/drawing/2014/main" id="{24B49998-C754-4AD6-A22F-F00298F4557D}"/>
              </a:ext>
            </a:extLst>
          </p:cNvPr>
          <p:cNvSpPr>
            <a:spLocks xmlns:a="http://schemas.openxmlformats.org/drawingml/2006/main" noGrp="1"/>
          </p:cNvSpPr>
          <p:nvPr/>
        </p:nvSpPr>
        <p:spPr>
          <a:xfrm xmlns:a="http://schemas.openxmlformats.org/drawingml/2006/main">
            <a:off x="762000" y="20764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Previous behavior</a:t>
            </a:r>
          </a:p>
        </p:txBody>
      </p:sp>
      <p:sp>
        <p:nvSpPr>
          <p:cNvPr id="6" name="The committed Q-learning constructor creates a zero-filled t">
            <a:extLst xmlns:a="http://schemas.openxmlformats.org/drawingml/2006/main">
              <a:ext uri="{FF2B5EF4-FFF2-40B4-BE49-F238E27FC236}">
                <a16:creationId xmlns:a16="http://schemas.microsoft.com/office/drawing/2014/main" id="{349FAF1F-0212-4D62-A9BD-167DEA8E16E4}"/>
              </a:ext>
            </a:extLst>
          </p:cNvPr>
          <p:cNvSpPr>
            <a:spLocks xmlns:a="http://schemas.openxmlformats.org/drawingml/2006/main" noGrp="1"/>
          </p:cNvSpPr>
          <p:nvPr/>
        </p:nvSpPr>
        <p:spPr>
          <a:xfrm xmlns:a="http://schemas.openxmlformats.org/drawingml/2006/main">
            <a:off x="762000" y="24955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The committed Q-learning constructor creates a zero-filled table, so every reboot starts learning again.</a:t>
            </a:r>
          </a:p>
        </p:txBody>
      </p:sp>
      <p:sp>
        <p:nvSpPr>
          <p:cNvPr id="7" name="Implemented change">
            <a:extLst xmlns:a="http://schemas.openxmlformats.org/drawingml/2006/main">
              <a:ext uri="{FF2B5EF4-FFF2-40B4-BE49-F238E27FC236}">
                <a16:creationId xmlns:a16="http://schemas.microsoft.com/office/drawing/2014/main" id="{35394EEC-9DA0-4653-BB76-B89182E4CE93}"/>
              </a:ext>
            </a:extLst>
          </p:cNvPr>
          <p:cNvSpPr>
            <a:spLocks xmlns:a="http://schemas.openxmlformats.org/drawingml/2006/main" noGrp="1"/>
          </p:cNvSpPr>
          <p:nvPr/>
        </p:nvSpPr>
        <p:spPr>
          <a:xfrm xmlns:a="http://schemas.openxmlformats.org/drawingml/2006/main">
            <a:off x="762000" y="33718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Implemented change</a:t>
            </a:r>
          </a:p>
        </p:txBody>
      </p:sp>
      <p:sp>
        <p:nvSpPr>
          <p:cNvPr id="8" name="The team now stores learned Q-values in ESP32 nonvolatile fl">
            <a:extLst xmlns:a="http://schemas.openxmlformats.org/drawingml/2006/main">
              <a:ext uri="{FF2B5EF4-FFF2-40B4-BE49-F238E27FC236}">
                <a16:creationId xmlns:a16="http://schemas.microsoft.com/office/drawing/2014/main" id="{D65CBBD7-C310-48DD-A07B-AB8C5127A6AA}"/>
              </a:ext>
            </a:extLst>
          </p:cNvPr>
          <p:cNvSpPr>
            <a:spLocks xmlns:a="http://schemas.openxmlformats.org/drawingml/2006/main" noGrp="1"/>
          </p:cNvSpPr>
          <p:nvPr/>
        </p:nvSpPr>
        <p:spPr>
          <a:xfrm xmlns:a="http://schemas.openxmlformats.org/drawingml/2006/main">
            <a:off x="762000" y="37909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The team now stores learned Q-values in ESP32 nonvolatile flash and restores them after restart.</a:t>
            </a:r>
          </a:p>
        </p:txBody>
      </p:sp>
      <p:sp>
        <p:nvSpPr>
          <p:cNvPr id="9" name="Why it matters">
            <a:extLst xmlns:a="http://schemas.openxmlformats.org/drawingml/2006/main">
              <a:ext uri="{FF2B5EF4-FFF2-40B4-BE49-F238E27FC236}">
                <a16:creationId xmlns:a16="http://schemas.microsoft.com/office/drawing/2014/main" id="{4CD8CA1E-3CB0-4DC3-AD3F-11C3D72616BD}"/>
              </a:ext>
            </a:extLst>
          </p:cNvPr>
          <p:cNvSpPr>
            <a:spLocks xmlns:a="http://schemas.openxmlformats.org/drawingml/2006/main" noGrp="1"/>
          </p:cNvSpPr>
          <p:nvPr/>
        </p:nvSpPr>
        <p:spPr>
          <a:xfrm xmlns:a="http://schemas.openxmlformats.org/drawingml/2006/main">
            <a:off x="762000" y="4667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Why it matters</a:t>
            </a:r>
          </a:p>
        </p:txBody>
      </p:sp>
      <p:sp>
        <p:nvSpPr>
          <p:cNvPr id="10" name="The gateway can resume its learned policy instead of discard">
            <a:extLst xmlns:a="http://schemas.openxmlformats.org/drawingml/2006/main">
              <a:ext uri="{FF2B5EF4-FFF2-40B4-BE49-F238E27FC236}">
                <a16:creationId xmlns:a16="http://schemas.microsoft.com/office/drawing/2014/main" id="{4398CF04-3589-4796-8A4E-7623C9DE67F0}"/>
              </a:ext>
            </a:extLst>
          </p:cNvPr>
          <p:cNvSpPr>
            <a:spLocks xmlns:a="http://schemas.openxmlformats.org/drawingml/2006/main" noGrp="1"/>
          </p:cNvSpPr>
          <p:nvPr/>
        </p:nvSpPr>
        <p:spPr>
          <a:xfrm xmlns:a="http://schemas.openxmlformats.org/drawingml/2006/main">
            <a:off x="762000" y="5086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The gateway can resume its learned policy instead of discarding the table at every power cycle.</a:t>
            </a:r>
          </a:p>
        </p:txBody>
      </p:sp>
    </p:spTree>
    <p:extLst>
      <p:ext uri="{BB962C8B-B14F-4D97-AF65-F5344CB8AC3E}">
        <p14:creationId xmlns:p14="http://schemas.microsoft.com/office/powerpoint/2010/main" val="314274072"/>
      </p:ext>
    </p:extLst>
  </p:cSld>
</p:sld>
</file>

<file path=ppt/slides/slide10.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DA3 USER INTERFACE">
            <a:extLst xmlns:a="http://schemas.openxmlformats.org/drawingml/2006/main">
              <a:ext uri="{FF2B5EF4-FFF2-40B4-BE49-F238E27FC236}">
                <a16:creationId xmlns:a16="http://schemas.microsoft.com/office/drawing/2014/main" id="{0AC2B437-9397-4555-A9D7-E0CD52F11B0B}"/>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DA3 USER INTERFACE</a:t>
            </a:r>
          </a:p>
        </p:txBody>
      </p:sp>
      <p:sp>
        <p:nvSpPr>
          <p:cNvPr id="3" name="FlashPoint flash-sale use case">
            <a:extLst xmlns:a="http://schemas.openxmlformats.org/drawingml/2006/main">
              <a:ext uri="{FF2B5EF4-FFF2-40B4-BE49-F238E27FC236}">
                <a16:creationId xmlns:a16="http://schemas.microsoft.com/office/drawing/2014/main" id="{15C0B6F5-1B28-42F7-94DF-D864ED9AD701}"/>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FlashPoint flash-sale use case</a:t>
            </a:r>
          </a:p>
        </p:txBody>
      </p:sp>
      <p:sp>
        <p:nvSpPr>
          <p:cNvPr id="4" name="10">
            <a:extLst xmlns:a="http://schemas.openxmlformats.org/drawingml/2006/main">
              <a:ext uri="{FF2B5EF4-FFF2-40B4-BE49-F238E27FC236}">
                <a16:creationId xmlns:a16="http://schemas.microsoft.com/office/drawing/2014/main" id="{2663C63A-121B-4795-B11A-736AFFE3FA27}"/>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10</a:t>
            </a:r>
          </a:p>
        </p:txBody>
      </p:sp>
      <p:sp>
        <p:nvSpPr>
          <p:cNvPr id="5" name="Controlled demand bursts">
            <a:extLst xmlns:a="http://schemas.openxmlformats.org/drawingml/2006/main">
              <a:ext uri="{FF2B5EF4-FFF2-40B4-BE49-F238E27FC236}">
                <a16:creationId xmlns:a16="http://schemas.microsoft.com/office/drawing/2014/main" id="{A606C045-943E-4EE4-A2C4-B0900D5D2E96}"/>
              </a:ext>
            </a:extLst>
          </p:cNvPr>
          <p:cNvSpPr>
            <a:spLocks xmlns:a="http://schemas.openxmlformats.org/drawingml/2006/main" noGrp="1"/>
          </p:cNvSpPr>
          <p:nvPr/>
        </p:nvSpPr>
        <p:spPr>
          <a:xfrm xmlns:a="http://schemas.openxmlformats.org/drawingml/2006/main">
            <a:off x="5810250" y="207645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Controlled demand bursts</a:t>
            </a:r>
          </a:p>
        </p:txBody>
      </p:sp>
      <p:sp>
        <p:nvSpPr>
          <p:cNvPr id="6" name="Start one mock request generator for each selected region, u">
            <a:extLst xmlns:a="http://schemas.openxmlformats.org/drawingml/2006/main">
              <a:ext uri="{FF2B5EF4-FFF2-40B4-BE49-F238E27FC236}">
                <a16:creationId xmlns:a16="http://schemas.microsoft.com/office/drawing/2014/main" id="{5FE1B888-6E64-4432-B13F-0C033C666B10}"/>
              </a:ext>
            </a:extLst>
          </p:cNvPr>
          <p:cNvSpPr>
            <a:spLocks xmlns:a="http://schemas.openxmlformats.org/drawingml/2006/main" noGrp="1"/>
          </p:cNvSpPr>
          <p:nvPr/>
        </p:nvSpPr>
        <p:spPr>
          <a:xfrm xmlns:a="http://schemas.openxmlformats.org/drawingml/2006/main">
            <a:off x="5810250" y="2705100"/>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7F4EE"/>
                </a:solidFill>
              </a:defRPr>
            </a:defPPr>
            <a:lvl1pPr>
              <a:defRPr sz="2100" b="0">
                <a:solidFill>
                  <a:srgbClr val="F7F4EE"/>
                </a:solidFill>
              </a:defRPr>
            </a:lvl1pPr>
            <a:lvl2pPr>
              <a:defRPr sz="2100" b="0">
                <a:solidFill>
                  <a:srgbClr val="F7F4EE"/>
                </a:solidFill>
              </a:defRPr>
            </a:lvl2pPr>
            <a:lvl3pPr>
              <a:defRPr sz="2100" b="0">
                <a:solidFill>
                  <a:srgbClr val="F7F4EE"/>
                </a:solidFill>
              </a:defRPr>
            </a:lvl3pPr>
            <a:lvl4pPr>
              <a:defRPr sz="2100" b="0">
                <a:solidFill>
                  <a:srgbClr val="F7F4EE"/>
                </a:solidFill>
              </a:defRPr>
            </a:lvl4pPr>
            <a:lvl5pPr>
              <a:defRPr sz="2100" b="0">
                <a:solidFill>
                  <a:srgbClr val="F7F4EE"/>
                </a:solidFill>
              </a:defRPr>
            </a:lvl5pPr>
            <a:lvl6pPr>
              <a:defRPr sz="2100" b="0">
                <a:solidFill>
                  <a:srgbClr val="F7F4EE"/>
                </a:solidFill>
              </a:defRPr>
            </a:lvl6pPr>
            <a:lvl7pPr>
              <a:defRPr sz="2100" b="0">
                <a:solidFill>
                  <a:srgbClr val="F7F4EE"/>
                </a:solidFill>
              </a:defRPr>
            </a:lvl7pPr>
            <a:lvl8pPr>
              <a:defRPr sz="2100" b="0">
                <a:solidFill>
                  <a:srgbClr val="F7F4EE"/>
                </a:solidFill>
              </a:defRPr>
            </a:lvl8pPr>
            <a:lvl9pPr>
              <a:defRPr sz="2100" b="0">
                <a:solidFill>
                  <a:srgbClr val="F7F4EE"/>
                </a:solidFill>
              </a:defRPr>
            </a:lvl9pPr>
          </a:lstStyle>
          <a:p xmlns:a="http://schemas.openxmlformats.org/drawingml/2006/main">
            <a:pPr>
              <a:defRPr sz="2100" b="0">
                <a:solidFill>
                  <a:srgbClr val="F7F4EE"/>
                </a:solidFill>
              </a:defRPr>
            </a:pPr>
            <a:r>
              <a:rPr sz="2100" b="0">
                <a:solidFill>
                  <a:srgbClr val="F7F4EE"/>
                </a:solidFill>
              </a:rPr>
              <a:t>Start one mock request generator for each selected region, up to seven in total.</a:t>
            </a:r>
          </a:p>
        </p:txBody>
      </p:sp>
      <p:sp>
        <p:nvSpPr>
          <p:cNvPr id="7" name="Adjust the pause between requests and client timeout. The sa">
            <a:extLst xmlns:a="http://schemas.openxmlformats.org/drawingml/2006/main">
              <a:ext uri="{FF2B5EF4-FFF2-40B4-BE49-F238E27FC236}">
                <a16:creationId xmlns:a16="http://schemas.microsoft.com/office/drawing/2014/main" id="{7DD0D5EE-625F-4CBC-B31D-C30325A07E38}"/>
              </a:ext>
            </a:extLst>
          </p:cNvPr>
          <p:cNvSpPr>
            <a:spLocks xmlns:a="http://schemas.openxmlformats.org/drawingml/2006/main" noGrp="1"/>
          </p:cNvSpPr>
          <p:nvPr/>
        </p:nvSpPr>
        <p:spPr>
          <a:xfrm xmlns:a="http://schemas.openxmlformats.org/drawingml/2006/main">
            <a:off x="5810250" y="3857625"/>
            <a:ext cx="5524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Adjust the pause between requests and client timeout. The sale timer only controls the displayed countdown.</a:t>
            </a:r>
          </a:p>
        </p:txBody>
      </p:sp>
      <p:pic>
        <p:nvPicPr>
          <p:cNvPr id="8" name="">
            <a:extLst xmlns:a="http://schemas.openxmlformats.org/drawingml/2006/main">
              <a:ext uri="{FF2B5EF4-FFF2-40B4-BE49-F238E27FC236}">
                <a16:creationId xmlns:a16="http://schemas.microsoft.com/office/drawing/2014/main" id="{633B10E0-B9B5-4F2B-8D2C-4384025DC8A9}"/>
              </a:ext>
            </a:extLst>
          </p:cNvPr>
          <p:cNvPicPr>
            <a:picLocks xmlns:a="http://schemas.openxmlformats.org/drawingml/2006/main" noChangeAspect="1"/>
          </p:cNvPicPr>
          <p:nvPr/>
        </p:nvPicPr>
        <p:blipFill>
          <a:blip xmlns:r="http://schemas.openxmlformats.org/officeDocument/2006/relationships" xmlns:a="http://schemas.openxmlformats.org/drawingml/2006/main" r:embed="R733e16eb83174348"/>
          <a:stretch xmlns:a="http://schemas.openxmlformats.org/drawingml/2006/main"/>
        </p:blipFill>
        <p:spPr>
          <a:xfrm xmlns:a="http://schemas.openxmlformats.org/drawingml/2006/main">
            <a:off x="1211076" y="1933575"/>
            <a:ext cx="3635749" cy="3924300"/>
          </a:xfrm>
          <a:prstGeom xmlns:a="http://schemas.openxmlformats.org/drawingml/2006/main" prst="rect">
            <a:avLst/>
          </a:prstGeom>
        </p:spPr>
      </p:pic>
    </p:spTree>
    <p:extLst>
      <p:ext uri="{BB962C8B-B14F-4D97-AF65-F5344CB8AC3E}">
        <p14:creationId xmlns:p14="http://schemas.microsoft.com/office/powerpoint/2010/main" val="393875731"/>
      </p:ext>
    </p:extLst>
  </p:cSld>
</p:sld>
</file>

<file path=ppt/slides/slide11.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DA3 USER INTERFACE">
            <a:extLst xmlns:a="http://schemas.openxmlformats.org/drawingml/2006/main">
              <a:ext uri="{FF2B5EF4-FFF2-40B4-BE49-F238E27FC236}">
                <a16:creationId xmlns:a16="http://schemas.microsoft.com/office/drawing/2014/main" id="{E02A8DBE-93E5-46F1-AC86-BFBF2CE8CCBB}"/>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DA3 USER INTERFACE</a:t>
            </a:r>
          </a:p>
        </p:txBody>
      </p:sp>
      <p:sp>
        <p:nvSpPr>
          <p:cNvPr id="3" name="Live routing and telemetry">
            <a:extLst xmlns:a="http://schemas.openxmlformats.org/drawingml/2006/main">
              <a:ext uri="{FF2B5EF4-FFF2-40B4-BE49-F238E27FC236}">
                <a16:creationId xmlns:a16="http://schemas.microsoft.com/office/drawing/2014/main" id="{BCD74CE9-C3F9-47A0-BEDB-27E1886DB1A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Live routing and telemetry</a:t>
            </a:r>
          </a:p>
        </p:txBody>
      </p:sp>
      <p:sp>
        <p:nvSpPr>
          <p:cNvPr id="4" name="11">
            <a:extLst xmlns:a="http://schemas.openxmlformats.org/drawingml/2006/main">
              <a:ext uri="{FF2B5EF4-FFF2-40B4-BE49-F238E27FC236}">
                <a16:creationId xmlns:a16="http://schemas.microsoft.com/office/drawing/2014/main" id="{37F8414E-EA74-483B-ABD3-E9A8B6EF575C}"/>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11</a:t>
            </a:r>
          </a:p>
        </p:txBody>
      </p:sp>
      <p:sp>
        <p:nvSpPr>
          <p:cNvPr id="5" name="Events drive the view">
            <a:extLst xmlns:a="http://schemas.openxmlformats.org/drawingml/2006/main">
              <a:ext uri="{FF2B5EF4-FFF2-40B4-BE49-F238E27FC236}">
                <a16:creationId xmlns:a16="http://schemas.microsoft.com/office/drawing/2014/main" id="{08280306-CFE0-4967-A8F0-8C145C110E16}"/>
              </a:ext>
            </a:extLst>
          </p:cNvPr>
          <p:cNvSpPr>
            <a:spLocks xmlns:a="http://schemas.openxmlformats.org/drawingml/2006/main" noGrp="1"/>
          </p:cNvSpPr>
          <p:nvPr/>
        </p:nvSpPr>
        <p:spPr>
          <a:xfrm xmlns:a="http://schemas.openxmlformats.org/drawingml/2006/main">
            <a:off x="5810250" y="207645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Events drive the view</a:t>
            </a:r>
          </a:p>
        </p:txBody>
      </p:sp>
      <p:sp>
        <p:nvSpPr>
          <p:cNvPr id="6" name="Request IDs connect client events to the backend that handle">
            <a:extLst xmlns:a="http://schemas.openxmlformats.org/drawingml/2006/main">
              <a:ext uri="{FF2B5EF4-FFF2-40B4-BE49-F238E27FC236}">
                <a16:creationId xmlns:a16="http://schemas.microsoft.com/office/drawing/2014/main" id="{430405CA-2A6F-4E72-9CF6-83718AABCE46}"/>
              </a:ext>
            </a:extLst>
          </p:cNvPr>
          <p:cNvSpPr>
            <a:spLocks xmlns:a="http://schemas.openxmlformats.org/drawingml/2006/main" noGrp="1"/>
          </p:cNvSpPr>
          <p:nvPr/>
        </p:nvSpPr>
        <p:spPr>
          <a:xfrm xmlns:a="http://schemas.openxmlformats.org/drawingml/2006/main">
            <a:off x="5810250" y="2705100"/>
            <a:ext cx="5524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7F4EE"/>
                </a:solidFill>
              </a:defRPr>
            </a:defPPr>
            <a:lvl1pPr>
              <a:defRPr sz="2100" b="0">
                <a:solidFill>
                  <a:srgbClr val="F7F4EE"/>
                </a:solidFill>
              </a:defRPr>
            </a:lvl1pPr>
            <a:lvl2pPr>
              <a:defRPr sz="2100" b="0">
                <a:solidFill>
                  <a:srgbClr val="F7F4EE"/>
                </a:solidFill>
              </a:defRPr>
            </a:lvl2pPr>
            <a:lvl3pPr>
              <a:defRPr sz="2100" b="0">
                <a:solidFill>
                  <a:srgbClr val="F7F4EE"/>
                </a:solidFill>
              </a:defRPr>
            </a:lvl3pPr>
            <a:lvl4pPr>
              <a:defRPr sz="2100" b="0">
                <a:solidFill>
                  <a:srgbClr val="F7F4EE"/>
                </a:solidFill>
              </a:defRPr>
            </a:lvl4pPr>
            <a:lvl5pPr>
              <a:defRPr sz="2100" b="0">
                <a:solidFill>
                  <a:srgbClr val="F7F4EE"/>
                </a:solidFill>
              </a:defRPr>
            </a:lvl5pPr>
            <a:lvl6pPr>
              <a:defRPr sz="2100" b="0">
                <a:solidFill>
                  <a:srgbClr val="F7F4EE"/>
                </a:solidFill>
              </a:defRPr>
            </a:lvl6pPr>
            <a:lvl7pPr>
              <a:defRPr sz="2100" b="0">
                <a:solidFill>
                  <a:srgbClr val="F7F4EE"/>
                </a:solidFill>
              </a:defRPr>
            </a:lvl7pPr>
            <a:lvl8pPr>
              <a:defRPr sz="2100" b="0">
                <a:solidFill>
                  <a:srgbClr val="F7F4EE"/>
                </a:solidFill>
              </a:defRPr>
            </a:lvl8pPr>
            <a:lvl9pPr>
              <a:defRPr sz="2100" b="0">
                <a:solidFill>
                  <a:srgbClr val="F7F4EE"/>
                </a:solidFill>
              </a:defRPr>
            </a:lvl9pPr>
          </a:lstStyle>
          <a:p xmlns:a="http://schemas.openxmlformats.org/drawingml/2006/main">
            <a:pPr>
              <a:defRPr sz="2100" b="0">
                <a:solidFill>
                  <a:srgbClr val="F7F4EE"/>
                </a:solidFill>
              </a:defRPr>
            </a:pPr>
            <a:r>
              <a:rPr sz="2100" b="0">
                <a:solidFill>
                  <a:srgbClr val="F7F4EE"/>
                </a:solidFill>
              </a:rPr>
              <a:t>Request IDs connect client events to the backend that handled each request.</a:t>
            </a:r>
          </a:p>
        </p:txBody>
      </p:sp>
      <p:sp>
        <p:nvSpPr>
          <p:cNvPr id="7" name="Charts show request rate, backend distribution and client-ob">
            <a:extLst xmlns:a="http://schemas.openxmlformats.org/drawingml/2006/main">
              <a:ext uri="{FF2B5EF4-FFF2-40B4-BE49-F238E27FC236}">
                <a16:creationId xmlns:a16="http://schemas.microsoft.com/office/drawing/2014/main" id="{03A0CC58-0ABB-4773-8E0E-6228530D6C2C}"/>
              </a:ext>
            </a:extLst>
          </p:cNvPr>
          <p:cNvSpPr>
            <a:spLocks xmlns:a="http://schemas.openxmlformats.org/drawingml/2006/main" noGrp="1"/>
          </p:cNvSpPr>
          <p:nvPr/>
        </p:nvSpPr>
        <p:spPr>
          <a:xfrm xmlns:a="http://schemas.openxmlformats.org/drawingml/2006/main">
            <a:off x="5810250" y="3810000"/>
            <a:ext cx="5524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3CB"/>
                </a:solidFill>
              </a:defRPr>
            </a:defPPr>
            <a:lvl1pPr>
              <a:defRPr sz="1950" b="0">
                <a:solidFill>
                  <a:srgbClr val="D8D3CB"/>
                </a:solidFill>
              </a:defRPr>
            </a:lvl1pPr>
            <a:lvl2pPr>
              <a:defRPr sz="1950" b="0">
                <a:solidFill>
                  <a:srgbClr val="D8D3CB"/>
                </a:solidFill>
              </a:defRPr>
            </a:lvl2pPr>
            <a:lvl3pPr>
              <a:defRPr sz="1950" b="0">
                <a:solidFill>
                  <a:srgbClr val="D8D3CB"/>
                </a:solidFill>
              </a:defRPr>
            </a:lvl3pPr>
            <a:lvl4pPr>
              <a:defRPr sz="1950" b="0">
                <a:solidFill>
                  <a:srgbClr val="D8D3CB"/>
                </a:solidFill>
              </a:defRPr>
            </a:lvl4pPr>
            <a:lvl5pPr>
              <a:defRPr sz="1950" b="0">
                <a:solidFill>
                  <a:srgbClr val="D8D3CB"/>
                </a:solidFill>
              </a:defRPr>
            </a:lvl5pPr>
            <a:lvl6pPr>
              <a:defRPr sz="1950" b="0">
                <a:solidFill>
                  <a:srgbClr val="D8D3CB"/>
                </a:solidFill>
              </a:defRPr>
            </a:lvl6pPr>
            <a:lvl7pPr>
              <a:defRPr sz="1950" b="0">
                <a:solidFill>
                  <a:srgbClr val="D8D3CB"/>
                </a:solidFill>
              </a:defRPr>
            </a:lvl7pPr>
            <a:lvl8pPr>
              <a:defRPr sz="1950" b="0">
                <a:solidFill>
                  <a:srgbClr val="D8D3CB"/>
                </a:solidFill>
              </a:defRPr>
            </a:lvl8pPr>
            <a:lvl9pPr>
              <a:defRPr sz="1950" b="0">
                <a:solidFill>
                  <a:srgbClr val="D8D3CB"/>
                </a:solidFill>
              </a:defRPr>
            </a:lvl9pPr>
          </a:lstStyle>
          <a:p xmlns:a="http://schemas.openxmlformats.org/drawingml/2006/main">
            <a:pPr>
              <a:defRPr sz="1950" b="0">
                <a:solidFill>
                  <a:srgbClr val="D8D3CB"/>
                </a:solidFill>
              </a:defRPr>
            </a:pPr>
            <a:r>
              <a:rPr sz="1950" b="0">
                <a:solidFill>
                  <a:srgbClr val="D8D3CB"/>
                </a:solidFill>
              </a:rPr>
              <a:t>Charts show request rate, backend distribution and client-observed response time. The event stream exposes errors and timeouts.</a:t>
            </a:r>
          </a:p>
        </p:txBody>
      </p:sp>
      <p:pic>
        <p:nvPicPr>
          <p:cNvPr id="8" name="">
            <a:extLst xmlns:a="http://schemas.openxmlformats.org/drawingml/2006/main">
              <a:ext uri="{FF2B5EF4-FFF2-40B4-BE49-F238E27FC236}">
                <a16:creationId xmlns:a16="http://schemas.microsoft.com/office/drawing/2014/main" id="{6CDAFF64-FB60-4A9A-867D-F8B17DDD18DC}"/>
              </a:ext>
            </a:extLst>
          </p:cNvPr>
          <p:cNvPicPr>
            <a:picLocks xmlns:a="http://schemas.openxmlformats.org/drawingml/2006/main" noChangeAspect="1"/>
          </p:cNvPicPr>
          <p:nvPr/>
        </p:nvPicPr>
        <p:blipFill>
          <a:blip xmlns:r="http://schemas.openxmlformats.org/officeDocument/2006/relationships" xmlns:a="http://schemas.openxmlformats.org/drawingml/2006/main" r:embed="R546d8598fe3041e2"/>
          <a:stretch xmlns:a="http://schemas.openxmlformats.org/drawingml/2006/main"/>
        </p:blipFill>
        <p:spPr>
          <a:xfrm xmlns:a="http://schemas.openxmlformats.org/drawingml/2006/main">
            <a:off x="1211076" y="1933575"/>
            <a:ext cx="3635749" cy="3924300"/>
          </a:xfrm>
          <a:prstGeom xmlns:a="http://schemas.openxmlformats.org/drawingml/2006/main" prst="rect">
            <a:avLst/>
          </a:prstGeom>
        </p:spPr>
      </p:pic>
    </p:spTree>
    <p:extLst>
      <p:ext uri="{BB962C8B-B14F-4D97-AF65-F5344CB8AC3E}">
        <p14:creationId xmlns:p14="http://schemas.microsoft.com/office/powerpoint/2010/main" val="634676287"/>
      </p:ext>
    </p:extLst>
  </p:cSld>
</p:sld>
</file>

<file path=ppt/slides/slide12.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REVIEW DEMONSTRATION">
            <a:extLst xmlns:a="http://schemas.openxmlformats.org/drawingml/2006/main">
              <a:ext uri="{FF2B5EF4-FFF2-40B4-BE49-F238E27FC236}">
                <a16:creationId xmlns:a16="http://schemas.microsoft.com/office/drawing/2014/main" id="{54B00A8F-8BD3-4C13-B6A9-F4765B744ED3}"/>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REVIEW DEMONSTRATION</a:t>
            </a:r>
          </a:p>
        </p:txBody>
      </p:sp>
      <p:sp>
        <p:nvSpPr>
          <p:cNvPr id="3" name="Flash-sale demonstration sequence">
            <a:extLst xmlns:a="http://schemas.openxmlformats.org/drawingml/2006/main">
              <a:ext uri="{FF2B5EF4-FFF2-40B4-BE49-F238E27FC236}">
                <a16:creationId xmlns:a16="http://schemas.microsoft.com/office/drawing/2014/main" id="{470635F0-F329-48DD-8589-E77A47CE1FFB}"/>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Flash-sale demonstration sequence</a:t>
            </a:r>
          </a:p>
        </p:txBody>
      </p:sp>
      <p:sp>
        <p:nvSpPr>
          <p:cNvPr id="4" name="12">
            <a:extLst xmlns:a="http://schemas.openxmlformats.org/drawingml/2006/main">
              <a:ext uri="{FF2B5EF4-FFF2-40B4-BE49-F238E27FC236}">
                <a16:creationId xmlns:a16="http://schemas.microsoft.com/office/drawing/2014/main" id="{BFECABCC-9D97-4C02-A157-E429976B258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12</a:t>
            </a:r>
          </a:p>
        </p:txBody>
      </p:sp>
      <p:sp>
        <p:nvSpPr>
          <p:cNvPr id="5" name="01">
            <a:extLst xmlns:a="http://schemas.openxmlformats.org/drawingml/2006/main">
              <a:ext uri="{FF2B5EF4-FFF2-40B4-BE49-F238E27FC236}">
                <a16:creationId xmlns:a16="http://schemas.microsoft.com/office/drawing/2014/main" id="{714D87B2-13F2-4FA7-BD68-B5090C21C615}"/>
              </a:ext>
            </a:extLst>
          </p:cNvPr>
          <p:cNvSpPr>
            <a:spLocks xmlns:a="http://schemas.openxmlformats.org/drawingml/2006/main" noGrp="1"/>
          </p:cNvSpPr>
          <p:nvPr/>
        </p:nvSpPr>
        <p:spPr>
          <a:xfrm xmlns:a="http://schemas.openxmlformats.org/drawingml/2006/main">
            <a:off x="762000" y="20383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01</a:t>
            </a:r>
          </a:p>
        </p:txBody>
      </p:sp>
      <p:sp>
        <p:nvSpPr>
          <p:cNvPr id="6" name="Configure">
            <a:extLst xmlns:a="http://schemas.openxmlformats.org/drawingml/2006/main">
              <a:ext uri="{FF2B5EF4-FFF2-40B4-BE49-F238E27FC236}">
                <a16:creationId xmlns:a16="http://schemas.microsoft.com/office/drawing/2014/main" id="{7A343322-FB63-4D89-A3F1-FEECC67AE104}"/>
              </a:ext>
            </a:extLst>
          </p:cNvPr>
          <p:cNvSpPr>
            <a:spLocks xmlns:a="http://schemas.openxmlformats.org/drawingml/2006/main" noGrp="1"/>
          </p:cNvSpPr>
          <p:nvPr/>
        </p:nvSpPr>
        <p:spPr>
          <a:xfrm xmlns:a="http://schemas.openxmlformats.org/drawingml/2006/main">
            <a:off x="1543050" y="20383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Configure</a:t>
            </a:r>
          </a:p>
        </p:txBody>
      </p:sp>
      <p:sp>
        <p:nvSpPr>
          <p:cNvPr id="7" name="Start backends on 8080–8082 and select a firmware strategy a">
            <a:extLst xmlns:a="http://schemas.openxmlformats.org/drawingml/2006/main">
              <a:ext uri="{FF2B5EF4-FFF2-40B4-BE49-F238E27FC236}">
                <a16:creationId xmlns:a16="http://schemas.microsoft.com/office/drawing/2014/main" id="{3C8415B5-6247-40B4-B036-1FC685F24AF0}"/>
              </a:ext>
            </a:extLst>
          </p:cNvPr>
          <p:cNvSpPr>
            <a:spLocks xmlns:a="http://schemas.openxmlformats.org/drawingml/2006/main" noGrp="1"/>
          </p:cNvSpPr>
          <p:nvPr/>
        </p:nvSpPr>
        <p:spPr>
          <a:xfrm xmlns:a="http://schemas.openxmlformats.org/drawingml/2006/main">
            <a:off x="3476625" y="20383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Start backends on 8080–8082 and select a firmware strategy at boot.</a:t>
            </a:r>
          </a:p>
        </p:txBody>
      </p:sp>
      <p:sp>
        <p:nvSpPr>
          <p:cNvPr id="8" name="02">
            <a:extLst xmlns:a="http://schemas.openxmlformats.org/drawingml/2006/main">
              <a:ext uri="{FF2B5EF4-FFF2-40B4-BE49-F238E27FC236}">
                <a16:creationId xmlns:a16="http://schemas.microsoft.com/office/drawing/2014/main" id="{4183EC9F-FD21-4DD3-A618-F9F6C83CFC4E}"/>
              </a:ext>
            </a:extLst>
          </p:cNvPr>
          <p:cNvSpPr>
            <a:spLocks xmlns:a="http://schemas.openxmlformats.org/drawingml/2006/main" noGrp="1"/>
          </p:cNvSpPr>
          <p:nvPr/>
        </p:nvSpPr>
        <p:spPr>
          <a:xfrm xmlns:a="http://schemas.openxmlformats.org/drawingml/2006/main">
            <a:off x="762000" y="277177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02</a:t>
            </a:r>
          </a:p>
        </p:txBody>
      </p:sp>
      <p:sp>
        <p:nvSpPr>
          <p:cNvPr id="9" name="Route">
            <a:extLst xmlns:a="http://schemas.openxmlformats.org/drawingml/2006/main">
              <a:ext uri="{FF2B5EF4-FFF2-40B4-BE49-F238E27FC236}">
                <a16:creationId xmlns:a16="http://schemas.microsoft.com/office/drawing/2014/main" id="{7E3A7224-4B17-4F56-B639-13C60E3B1922}"/>
              </a:ext>
            </a:extLst>
          </p:cNvPr>
          <p:cNvSpPr>
            <a:spLocks xmlns:a="http://schemas.openxmlformats.org/drawingml/2006/main" noGrp="1"/>
          </p:cNvSpPr>
          <p:nvPr/>
        </p:nvSpPr>
        <p:spPr>
          <a:xfrm xmlns:a="http://schemas.openxmlformats.org/drawingml/2006/main">
            <a:off x="1543050" y="277177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Route</a:t>
            </a:r>
          </a:p>
        </p:txBody>
      </p:sp>
      <p:sp>
        <p:nvSpPr>
          <p:cNvPr id="10" name="Point generators at the ESP32 IP, port 80. Start the selecte">
            <a:extLst xmlns:a="http://schemas.openxmlformats.org/drawingml/2006/main">
              <a:ext uri="{FF2B5EF4-FFF2-40B4-BE49-F238E27FC236}">
                <a16:creationId xmlns:a16="http://schemas.microsoft.com/office/drawing/2014/main" id="{CDA9BEDA-9EA3-4EDE-9EDF-E5A9E1E24C75}"/>
              </a:ext>
            </a:extLst>
          </p:cNvPr>
          <p:cNvSpPr>
            <a:spLocks xmlns:a="http://schemas.openxmlformats.org/drawingml/2006/main" noGrp="1"/>
          </p:cNvSpPr>
          <p:nvPr/>
        </p:nvSpPr>
        <p:spPr>
          <a:xfrm xmlns:a="http://schemas.openxmlformats.org/drawingml/2006/main">
            <a:off x="3476625" y="2771775"/>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Point generators at the ESP32 IP, port 80. Start the selected regions.</a:t>
            </a:r>
          </a:p>
        </p:txBody>
      </p:sp>
      <p:sp>
        <p:nvSpPr>
          <p:cNvPr id="11" name="03">
            <a:extLst xmlns:a="http://schemas.openxmlformats.org/drawingml/2006/main">
              <a:ext uri="{FF2B5EF4-FFF2-40B4-BE49-F238E27FC236}">
                <a16:creationId xmlns:a16="http://schemas.microsoft.com/office/drawing/2014/main" id="{4A76BE58-702A-485C-BB74-9B11579F39AD}"/>
              </a:ext>
            </a:extLst>
          </p:cNvPr>
          <p:cNvSpPr>
            <a:spLocks xmlns:a="http://schemas.openxmlformats.org/drawingml/2006/main" noGrp="1"/>
          </p:cNvSpPr>
          <p:nvPr/>
        </p:nvSpPr>
        <p:spPr>
          <a:xfrm xmlns:a="http://schemas.openxmlformats.org/drawingml/2006/main">
            <a:off x="762000" y="350520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03</a:t>
            </a:r>
          </a:p>
        </p:txBody>
      </p:sp>
      <p:sp>
        <p:nvSpPr>
          <p:cNvPr id="12" name="Degrade">
            <a:extLst xmlns:a="http://schemas.openxmlformats.org/drawingml/2006/main">
              <a:ext uri="{FF2B5EF4-FFF2-40B4-BE49-F238E27FC236}">
                <a16:creationId xmlns:a16="http://schemas.microsoft.com/office/drawing/2014/main" id="{7FB7D0C3-C553-4C76-9A22-255FC6131730}"/>
              </a:ext>
            </a:extLst>
          </p:cNvPr>
          <p:cNvSpPr>
            <a:spLocks xmlns:a="http://schemas.openxmlformats.org/drawingml/2006/main" noGrp="1"/>
          </p:cNvSpPr>
          <p:nvPr/>
        </p:nvSpPr>
        <p:spPr>
          <a:xfrm xmlns:a="http://schemas.openxmlformats.org/drawingml/2006/main">
            <a:off x="1543050" y="350520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Degrade</a:t>
            </a:r>
          </a:p>
        </p:txBody>
      </p:sp>
      <p:sp>
        <p:nvSpPr>
          <p:cNvPr id="13" name="Raise the delay on one backend while traffic continues.">
            <a:extLst xmlns:a="http://schemas.openxmlformats.org/drawingml/2006/main">
              <a:ext uri="{FF2B5EF4-FFF2-40B4-BE49-F238E27FC236}">
                <a16:creationId xmlns:a16="http://schemas.microsoft.com/office/drawing/2014/main" id="{D5C8C9FD-30E9-4531-84F3-0A289ABC2DBC}"/>
              </a:ext>
            </a:extLst>
          </p:cNvPr>
          <p:cNvSpPr>
            <a:spLocks xmlns:a="http://schemas.openxmlformats.org/drawingml/2006/main" noGrp="1"/>
          </p:cNvSpPr>
          <p:nvPr/>
        </p:nvSpPr>
        <p:spPr>
          <a:xfrm xmlns:a="http://schemas.openxmlformats.org/drawingml/2006/main">
            <a:off x="3476625" y="350520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Raise the delay on one backend while traffic continues.</a:t>
            </a:r>
          </a:p>
        </p:txBody>
      </p:sp>
      <p:sp>
        <p:nvSpPr>
          <p:cNvPr id="14" name="04">
            <a:extLst xmlns:a="http://schemas.openxmlformats.org/drawingml/2006/main">
              <a:ext uri="{FF2B5EF4-FFF2-40B4-BE49-F238E27FC236}">
                <a16:creationId xmlns:a16="http://schemas.microsoft.com/office/drawing/2014/main" id="{B5FAF1CF-6458-4195-8BF2-FF4CAD3F1204}"/>
              </a:ext>
            </a:extLst>
          </p:cNvPr>
          <p:cNvSpPr>
            <a:spLocks xmlns:a="http://schemas.openxmlformats.org/drawingml/2006/main" noGrp="1"/>
          </p:cNvSpPr>
          <p:nvPr/>
        </p:nvSpPr>
        <p:spPr>
          <a:xfrm xmlns:a="http://schemas.openxmlformats.org/drawingml/2006/main">
            <a:off x="762000" y="42386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04</a:t>
            </a:r>
          </a:p>
        </p:txBody>
      </p:sp>
      <p:sp>
        <p:nvSpPr>
          <p:cNvPr id="15" name="Observe">
            <a:extLst xmlns:a="http://schemas.openxmlformats.org/drawingml/2006/main">
              <a:ext uri="{FF2B5EF4-FFF2-40B4-BE49-F238E27FC236}">
                <a16:creationId xmlns:a16="http://schemas.microsoft.com/office/drawing/2014/main" id="{4F59CC8D-DEBD-4896-BE14-EDC6DA063ADB}"/>
              </a:ext>
            </a:extLst>
          </p:cNvPr>
          <p:cNvSpPr>
            <a:spLocks xmlns:a="http://schemas.openxmlformats.org/drawingml/2006/main" noGrp="1"/>
          </p:cNvSpPr>
          <p:nvPr/>
        </p:nvSpPr>
        <p:spPr>
          <a:xfrm xmlns:a="http://schemas.openxmlformats.org/drawingml/2006/main">
            <a:off x="1543050" y="4238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Observe</a:t>
            </a:r>
          </a:p>
        </p:txBody>
      </p:sp>
      <p:sp>
        <p:nvSpPr>
          <p:cNvPr id="16" name="Watch response time, successful responses and backend distri">
            <a:extLst xmlns:a="http://schemas.openxmlformats.org/drawingml/2006/main">
              <a:ext uri="{FF2B5EF4-FFF2-40B4-BE49-F238E27FC236}">
                <a16:creationId xmlns:a16="http://schemas.microsoft.com/office/drawing/2014/main" id="{1064BA94-F872-4023-B18B-098515CBD221}"/>
              </a:ext>
            </a:extLst>
          </p:cNvPr>
          <p:cNvSpPr>
            <a:spLocks xmlns:a="http://schemas.openxmlformats.org/drawingml/2006/main" noGrp="1"/>
          </p:cNvSpPr>
          <p:nvPr/>
        </p:nvSpPr>
        <p:spPr>
          <a:xfrm xmlns:a="http://schemas.openxmlformats.org/drawingml/2006/main">
            <a:off x="3476625" y="4238625"/>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Watch response time, successful responses and backend distribution.</a:t>
            </a:r>
          </a:p>
        </p:txBody>
      </p:sp>
      <p:sp>
        <p:nvSpPr>
          <p:cNvPr id="17" name="05">
            <a:extLst xmlns:a="http://schemas.openxmlformats.org/drawingml/2006/main">
              <a:ext uri="{FF2B5EF4-FFF2-40B4-BE49-F238E27FC236}">
                <a16:creationId xmlns:a16="http://schemas.microsoft.com/office/drawing/2014/main" id="{1DCDA9F6-A190-41B7-82D0-09E6544C8AAA}"/>
              </a:ext>
            </a:extLst>
          </p:cNvPr>
          <p:cNvSpPr>
            <a:spLocks xmlns:a="http://schemas.openxmlformats.org/drawingml/2006/main" noGrp="1"/>
          </p:cNvSpPr>
          <p:nvPr/>
        </p:nvSpPr>
        <p:spPr>
          <a:xfrm xmlns:a="http://schemas.openxmlformats.org/drawingml/2006/main">
            <a:off x="762000" y="49720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05</a:t>
            </a:r>
          </a:p>
        </p:txBody>
      </p:sp>
      <p:sp>
        <p:nvSpPr>
          <p:cNvPr id="18" name="Compare">
            <a:extLst xmlns:a="http://schemas.openxmlformats.org/drawingml/2006/main">
              <a:ext uri="{FF2B5EF4-FFF2-40B4-BE49-F238E27FC236}">
                <a16:creationId xmlns:a16="http://schemas.microsoft.com/office/drawing/2014/main" id="{4A3F13D0-228A-4608-9A48-EE652202F351}"/>
              </a:ext>
            </a:extLst>
          </p:cNvPr>
          <p:cNvSpPr>
            <a:spLocks xmlns:a="http://schemas.openxmlformats.org/drawingml/2006/main" noGrp="1"/>
          </p:cNvSpPr>
          <p:nvPr/>
        </p:nvSpPr>
        <p:spPr>
          <a:xfrm xmlns:a="http://schemas.openxmlformats.org/drawingml/2006/main">
            <a:off x="1543050" y="4972050"/>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Compare</a:t>
            </a:r>
          </a:p>
        </p:txBody>
      </p:sp>
      <p:sp>
        <p:nvSpPr>
          <p:cNvPr id="19" name="Repeat with the same settings for each strategy and reset co">
            <a:extLst xmlns:a="http://schemas.openxmlformats.org/drawingml/2006/main">
              <a:ext uri="{FF2B5EF4-FFF2-40B4-BE49-F238E27FC236}">
                <a16:creationId xmlns:a16="http://schemas.microsoft.com/office/drawing/2014/main" id="{6D1EBD54-9667-4BCC-A06A-DA6A8F58E2A2}"/>
              </a:ext>
            </a:extLst>
          </p:cNvPr>
          <p:cNvSpPr>
            <a:spLocks xmlns:a="http://schemas.openxmlformats.org/drawingml/2006/main" noGrp="1"/>
          </p:cNvSpPr>
          <p:nvPr/>
        </p:nvSpPr>
        <p:spPr>
          <a:xfrm xmlns:a="http://schemas.openxmlformats.org/drawingml/2006/main">
            <a:off x="3476625" y="4972050"/>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Repeat with the same settings for each strategy and reset counters.</a:t>
            </a:r>
          </a:p>
        </p:txBody>
      </p:sp>
    </p:spTree>
    <p:extLst>
      <p:ext uri="{BB962C8B-B14F-4D97-AF65-F5344CB8AC3E}">
        <p14:creationId xmlns:p14="http://schemas.microsoft.com/office/powerpoint/2010/main" val="1068484377"/>
      </p:ext>
    </p:extLst>
  </p:cSld>
</p:sld>
</file>

<file path=ppt/slides/slide13.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TEAM-CONFIRMED HARDWARE RUN">
            <a:extLst xmlns:a="http://schemas.openxmlformats.org/drawingml/2006/main">
              <a:ext uri="{FF2B5EF4-FFF2-40B4-BE49-F238E27FC236}">
                <a16:creationId xmlns:a16="http://schemas.microsoft.com/office/drawing/2014/main" id="{19266D10-063C-4AB2-AE22-478DE8136C3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TEAM-CONFIRMED HARDWARE RUN</a:t>
            </a:r>
          </a:p>
        </p:txBody>
      </p:sp>
      <p:sp>
        <p:nvSpPr>
          <p:cNvPr id="3" name="Hardware evaluation setup">
            <a:extLst xmlns:a="http://schemas.openxmlformats.org/drawingml/2006/main">
              <a:ext uri="{FF2B5EF4-FFF2-40B4-BE49-F238E27FC236}">
                <a16:creationId xmlns:a16="http://schemas.microsoft.com/office/drawing/2014/main" id="{47CC1245-03EF-4200-8F40-FDC595D746F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Hardware evaluation setup</a:t>
            </a:r>
          </a:p>
        </p:txBody>
      </p:sp>
      <p:sp>
        <p:nvSpPr>
          <p:cNvPr id="4" name="13">
            <a:extLst xmlns:a="http://schemas.openxmlformats.org/drawingml/2006/main">
              <a:ext uri="{FF2B5EF4-FFF2-40B4-BE49-F238E27FC236}">
                <a16:creationId xmlns:a16="http://schemas.microsoft.com/office/drawing/2014/main" id="{C1EA4A6D-58E7-4E58-B5B2-84887B38CABA}"/>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13</a:t>
            </a:r>
          </a:p>
        </p:txBody>
      </p:sp>
      <p:sp>
        <p:nvSpPr>
          <p:cNvPr id="5" name="3 backends     5 clients     120 seconds">
            <a:extLst xmlns:a="http://schemas.openxmlformats.org/drawingml/2006/main">
              <a:ext uri="{FF2B5EF4-FFF2-40B4-BE49-F238E27FC236}">
                <a16:creationId xmlns:a16="http://schemas.microsoft.com/office/drawing/2014/main" id="{BB50E8D7-4F42-464D-AA4A-EB9383294744}"/>
              </a:ext>
            </a:extLst>
          </p:cNvPr>
          <p:cNvSpPr>
            <a:spLocks xmlns:a="http://schemas.openxmlformats.org/drawingml/2006/main" noGrp="1"/>
          </p:cNvSpPr>
          <p:nvPr/>
        </p:nvSpPr>
        <p:spPr>
          <a:xfrm xmlns:a="http://schemas.openxmlformats.org/drawingml/2006/main">
            <a:off x="762000" y="20669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E16A3D"/>
                </a:solidFill>
              </a:defRPr>
            </a:defPPr>
            <a:lvl1pPr>
              <a:defRPr sz="2700" b="1">
                <a:solidFill>
                  <a:srgbClr val="E16A3D"/>
                </a:solidFill>
              </a:defRPr>
            </a:lvl1pPr>
            <a:lvl2pPr>
              <a:defRPr sz="2700" b="1">
                <a:solidFill>
                  <a:srgbClr val="E16A3D"/>
                </a:solidFill>
              </a:defRPr>
            </a:lvl2pPr>
            <a:lvl3pPr>
              <a:defRPr sz="2700" b="1">
                <a:solidFill>
                  <a:srgbClr val="E16A3D"/>
                </a:solidFill>
              </a:defRPr>
            </a:lvl3pPr>
            <a:lvl4pPr>
              <a:defRPr sz="2700" b="1">
                <a:solidFill>
                  <a:srgbClr val="E16A3D"/>
                </a:solidFill>
              </a:defRPr>
            </a:lvl4pPr>
            <a:lvl5pPr>
              <a:defRPr sz="2700" b="1">
                <a:solidFill>
                  <a:srgbClr val="E16A3D"/>
                </a:solidFill>
              </a:defRPr>
            </a:lvl5pPr>
            <a:lvl6pPr>
              <a:defRPr sz="2700" b="1">
                <a:solidFill>
                  <a:srgbClr val="E16A3D"/>
                </a:solidFill>
              </a:defRPr>
            </a:lvl6pPr>
            <a:lvl7pPr>
              <a:defRPr sz="2700" b="1">
                <a:solidFill>
                  <a:srgbClr val="E16A3D"/>
                </a:solidFill>
              </a:defRPr>
            </a:lvl7pPr>
            <a:lvl8pPr>
              <a:defRPr sz="2700" b="1">
                <a:solidFill>
                  <a:srgbClr val="E16A3D"/>
                </a:solidFill>
              </a:defRPr>
            </a:lvl8pPr>
            <a:lvl9pPr>
              <a:defRPr sz="2700" b="1">
                <a:solidFill>
                  <a:srgbClr val="E16A3D"/>
                </a:solidFill>
              </a:defRPr>
            </a:lvl9pPr>
          </a:lstStyle>
          <a:p xmlns:a="http://schemas.openxmlformats.org/drawingml/2006/main">
            <a:pPr>
              <a:defRPr sz="2700" b="1">
                <a:solidFill>
                  <a:srgbClr val="E16A3D"/>
                </a:solidFill>
              </a:defRPr>
            </a:pPr>
            <a:r>
              <a:rPr sz="2700" b="1">
                <a:solidFill>
                  <a:srgbClr val="E16A3D"/>
                </a:solidFill>
              </a:rPr>
              <a:t>3 backends     5 clients     120 seconds</a:t>
            </a:r>
          </a:p>
        </p:txBody>
      </p:sp>
      <p:graphicFrame>
        <p:nvGraphicFramePr>
          <p:cNvPr id="6" name="">
            <a:extLst xmlns:a="http://schemas.openxmlformats.org/drawingml/2006/main">
              <a:ext uri="{FF2B5EF4-FFF2-40B4-BE49-F238E27FC236}">
                <a16:creationId xmlns:a16="http://schemas.microsoft.com/office/drawing/2014/main" id="{ADB49BA0-EF07-40F4-97CB-37CC63B1BEDF}"/>
              </a:ext>
            </a:extLst>
          </p:cNvPr>
          <p:cNvGraphicFramePr/>
          <p:nvPr/>
        </p:nvGraphicFramePr>
        <p:xfrm>
          <a:off xmlns:a="http://schemas.openxmlformats.org/drawingml/2006/main" x="762000" y="3009900"/>
          <a:ext xmlns:a="http://schemas.openxmlformats.org/drawingml/2006/main" cx="10668000" cy="2447925"/>
        </p:xfrm>
        <a:graphic xmlns:a="http://schemas.openxmlformats.org/drawingml/2006/main">
          <a:graphicData uri="http://schemas.openxmlformats.org/drawingml/2006/table">
            <a:tbl>
              <a:tblPr/>
              <a:tblGrid>
                <a:gridCol w="2571750"/>
                <a:gridCol w="4333875"/>
                <a:gridCol w="3762375"/>
              </a:tblGrid>
              <a:tr h="611981">
                <a:tc>
                  <a:txBody>
                    <a:bodyPr/>
                    <a:lstStyle/>
                    <a:p>
                      <a:r>
                        <a:rPr sz="1875" b="1">
                          <a:solidFill>
                            <a:srgbClr val="F7F4EE"/>
                          </a:solidFill>
                        </a:rPr>
                        <a:t>Backend</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Added delay setting</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Condition</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611981">
                <a:tc>
                  <a:txBody>
                    <a:bodyPr/>
                    <a:lstStyle/>
                    <a:p>
                      <a:r>
                        <a:rPr sz="1875" b="0">
                          <a:solidFill>
                            <a:srgbClr val="F7F4EE"/>
                          </a:solidFill>
                        </a:rPr>
                        <a:t>8080</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0% of 2-second timeout</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Healthy reference</a:t>
                      </a:r>
                    </a:p>
                  </a:txBody>
                  <a:tcPr marL="91440" marR="91440" marT="45720" marB="45720">
                    <a:lnR w="9525">
                      <a:solidFill>
                        <a:srgbClr val="0E1822"/>
                      </a:solidFill>
                      <a:prstDash val="solid"/>
                    </a:lnR>
                    <a:lnB w="9525">
                      <a:solidFill>
                        <a:srgbClr val="0E1822"/>
                      </a:solidFill>
                      <a:prstDash val="solid"/>
                    </a:lnB>
                    <a:solidFill>
                      <a:srgbClr val="0E1822"/>
                    </a:solidFill>
                  </a:tcPr>
                </a:tc>
              </a:tr>
              <a:tr h="611981">
                <a:tc>
                  <a:txBody>
                    <a:bodyPr/>
                    <a:lstStyle/>
                    <a:p>
                      <a:r>
                        <a:rPr sz="1875" b="0">
                          <a:solidFill>
                            <a:srgbClr val="F7F4EE"/>
                          </a:solidFill>
                        </a:rPr>
                        <a:t>8081</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45%, approximately 900 ms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Degraded backend</a:t>
                      </a:r>
                    </a:p>
                  </a:txBody>
                  <a:tcPr marL="91440" marR="91440" marT="45720" marB="45720">
                    <a:lnR w="9525">
                      <a:solidFill>
                        <a:srgbClr val="0E1822"/>
                      </a:solidFill>
                      <a:prstDash val="solid"/>
                    </a:lnR>
                    <a:lnB w="9525">
                      <a:solidFill>
                        <a:srgbClr val="0E1822"/>
                      </a:solidFill>
                      <a:prstDash val="solid"/>
                    </a:lnB>
                    <a:solidFill>
                      <a:srgbClr val="14202C"/>
                    </a:solidFill>
                  </a:tcPr>
                </a:tc>
              </a:tr>
              <a:tr h="611981">
                <a:tc>
                  <a:txBody>
                    <a:bodyPr/>
                    <a:lstStyle/>
                    <a:p>
                      <a:r>
                        <a:rPr sz="1875" b="0">
                          <a:solidFill>
                            <a:srgbClr val="F7F4EE"/>
                          </a:solidFill>
                        </a:rPr>
                        <a:t>8082</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5%, approximately 100 ms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Second healthy backend</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31506743"/>
      </p:ext>
    </p:extLst>
  </p:cSld>
</p:sld>
</file>

<file path=ppt/slides/slide14.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HARDWARE RESULT">
            <a:extLst xmlns:a="http://schemas.openxmlformats.org/drawingml/2006/main">
              <a:ext uri="{FF2B5EF4-FFF2-40B4-BE49-F238E27FC236}">
                <a16:creationId xmlns:a16="http://schemas.microsoft.com/office/drawing/2014/main" id="{29084A72-A841-4175-BFD9-B2ADBF8A2EF4}"/>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HARDWARE RESULT</a:t>
            </a:r>
          </a:p>
        </p:txBody>
      </p:sp>
      <p:sp>
        <p:nvSpPr>
          <p:cNvPr id="3" name="Q-learning reduced mean latency by 59.8%">
            <a:extLst xmlns:a="http://schemas.openxmlformats.org/drawingml/2006/main">
              <a:ext uri="{FF2B5EF4-FFF2-40B4-BE49-F238E27FC236}">
                <a16:creationId xmlns:a16="http://schemas.microsoft.com/office/drawing/2014/main" id="{395791FA-2A7A-4057-8DBF-5F95B136414C}"/>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Q-learning reduced mean latency by 59.8%</a:t>
            </a:r>
          </a:p>
        </p:txBody>
      </p:sp>
      <p:sp>
        <p:nvSpPr>
          <p:cNvPr id="4" name="14">
            <a:extLst xmlns:a="http://schemas.openxmlformats.org/drawingml/2006/main">
              <a:ext uri="{FF2B5EF4-FFF2-40B4-BE49-F238E27FC236}">
                <a16:creationId xmlns:a16="http://schemas.microsoft.com/office/drawing/2014/main" id="{4398AE02-3C75-4046-953D-7D2D6EEC762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14</a:t>
            </a:r>
          </a:p>
        </p:txBody>
      </p:sp>
      <p:graphicFrame>
        <p:nvGraphicFramePr>
          <p:cNvPr id="5" name="Chart">
            <a:extLst xmlns:a="http://schemas.openxmlformats.org/drawingml/2006/main">
              <a:ext uri="{FF2B5EF4-FFF2-40B4-BE49-F238E27FC236}">
                <a16:creationId xmlns:a16="http://schemas.microsoft.com/office/drawing/2014/main" id="{91E3B47F-7902-4F25-B620-B045EEFD022F}"/>
              </a:ext>
            </a:extLst>
          </p:cNvPr>
          <p:cNvGraphicFramePr/>
          <p:nvPr/>
        </p:nvGraphicFramePr>
        <p:xfrm>
          <a:off xmlns:a="http://schemas.openxmlformats.org/drawingml/2006/main" x="762000" y="2076450"/>
          <a:ext xmlns:a="http://schemas.openxmlformats.org/drawingml/2006/main" cx="7429500" cy="3533775"/>
        </p:xfrm>
        <a:graphic xmlns:a="http://schemas.openxmlformats.org/drawingml/2006/main">
          <a:graphicData uri="http://schemas.openxmlformats.org/drawingml/2006/chart">
            <c:chart xmlns:r="http://schemas.openxmlformats.org/officeDocument/2006/relationships" xmlns:c="http://schemas.openxmlformats.org/drawingml/2006/chart" r:id="R24a0e467f485496a"/>
          </a:graphicData>
        </a:graphic>
      </p:graphicFrame>
      <p:sp>
        <p:nvSpPr>
          <p:cNvPr id="6" name="310 ms">
            <a:extLst xmlns:a="http://schemas.openxmlformats.org/drawingml/2006/main">
              <a:ext uri="{FF2B5EF4-FFF2-40B4-BE49-F238E27FC236}">
                <a16:creationId xmlns:a16="http://schemas.microsoft.com/office/drawing/2014/main" id="{7ADC9DD5-8397-4EA8-B8EB-56C9B20D1B69}"/>
              </a:ext>
            </a:extLst>
          </p:cNvPr>
          <p:cNvSpPr>
            <a:spLocks xmlns:a="http://schemas.openxmlformats.org/drawingml/2006/main" noGrp="1"/>
          </p:cNvSpPr>
          <p:nvPr/>
        </p:nvSpPr>
        <p:spPr>
          <a:xfrm xmlns:a="http://schemas.openxmlformats.org/drawingml/2006/main">
            <a:off x="8743950" y="244792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E16A3D"/>
                </a:solidFill>
              </a:defRPr>
            </a:defPPr>
            <a:lvl1pPr>
              <a:defRPr sz="4050" b="1">
                <a:solidFill>
                  <a:srgbClr val="E16A3D"/>
                </a:solidFill>
              </a:defRPr>
            </a:lvl1pPr>
            <a:lvl2pPr>
              <a:defRPr sz="4050" b="1">
                <a:solidFill>
                  <a:srgbClr val="E16A3D"/>
                </a:solidFill>
              </a:defRPr>
            </a:lvl2pPr>
            <a:lvl3pPr>
              <a:defRPr sz="4050" b="1">
                <a:solidFill>
                  <a:srgbClr val="E16A3D"/>
                </a:solidFill>
              </a:defRPr>
            </a:lvl3pPr>
            <a:lvl4pPr>
              <a:defRPr sz="4050" b="1">
                <a:solidFill>
                  <a:srgbClr val="E16A3D"/>
                </a:solidFill>
              </a:defRPr>
            </a:lvl4pPr>
            <a:lvl5pPr>
              <a:defRPr sz="4050" b="1">
                <a:solidFill>
                  <a:srgbClr val="E16A3D"/>
                </a:solidFill>
              </a:defRPr>
            </a:lvl5pPr>
            <a:lvl6pPr>
              <a:defRPr sz="4050" b="1">
                <a:solidFill>
                  <a:srgbClr val="E16A3D"/>
                </a:solidFill>
              </a:defRPr>
            </a:lvl6pPr>
            <a:lvl7pPr>
              <a:defRPr sz="4050" b="1">
                <a:solidFill>
                  <a:srgbClr val="E16A3D"/>
                </a:solidFill>
              </a:defRPr>
            </a:lvl7pPr>
            <a:lvl8pPr>
              <a:defRPr sz="4050" b="1">
                <a:solidFill>
                  <a:srgbClr val="E16A3D"/>
                </a:solidFill>
              </a:defRPr>
            </a:lvl8pPr>
            <a:lvl9pPr>
              <a:defRPr sz="4050" b="1">
                <a:solidFill>
                  <a:srgbClr val="E16A3D"/>
                </a:solidFill>
              </a:defRPr>
            </a:lvl9pPr>
          </a:lstStyle>
          <a:p xmlns:a="http://schemas.openxmlformats.org/drawingml/2006/main">
            <a:pPr>
              <a:defRPr sz="4050" b="1">
                <a:solidFill>
                  <a:srgbClr val="E16A3D"/>
                </a:solidFill>
              </a:defRPr>
            </a:pPr>
            <a:r>
              <a:rPr sz="4050" b="1">
                <a:solidFill>
                  <a:srgbClr val="E16A3D"/>
                </a:solidFill>
              </a:rPr>
              <a:t>310 ms</a:t>
            </a:r>
          </a:p>
        </p:txBody>
      </p:sp>
      <p:sp>
        <p:nvSpPr>
          <p:cNvPr id="7" name="lower mean latency&#10;than Round Robin">
            <a:extLst xmlns:a="http://schemas.openxmlformats.org/drawingml/2006/main">
              <a:ext uri="{FF2B5EF4-FFF2-40B4-BE49-F238E27FC236}">
                <a16:creationId xmlns:a16="http://schemas.microsoft.com/office/drawing/2014/main" id="{550BB9B8-02D6-445B-88DB-C3D19F0B764E}"/>
              </a:ext>
            </a:extLst>
          </p:cNvPr>
          <p:cNvSpPr>
            <a:spLocks xmlns:a="http://schemas.openxmlformats.org/drawingml/2006/main" noGrp="1"/>
          </p:cNvSpPr>
          <p:nvPr/>
        </p:nvSpPr>
        <p:spPr>
          <a:xfrm xmlns:a="http://schemas.openxmlformats.org/drawingml/2006/main">
            <a:off x="8743950" y="33623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7F4EE"/>
                </a:solidFill>
              </a:defRPr>
            </a:defPPr>
            <a:lvl1pPr>
              <a:defRPr sz="2100" b="1">
                <a:solidFill>
                  <a:srgbClr val="F7F4EE"/>
                </a:solidFill>
              </a:defRPr>
            </a:lvl1pPr>
            <a:lvl2pPr>
              <a:defRPr sz="2100" b="1">
                <a:solidFill>
                  <a:srgbClr val="F7F4EE"/>
                </a:solidFill>
              </a:defRPr>
            </a:lvl2pPr>
            <a:lvl3pPr>
              <a:defRPr sz="2100" b="1">
                <a:solidFill>
                  <a:srgbClr val="F7F4EE"/>
                </a:solidFill>
              </a:defRPr>
            </a:lvl3pPr>
            <a:lvl4pPr>
              <a:defRPr sz="2100" b="1">
                <a:solidFill>
                  <a:srgbClr val="F7F4EE"/>
                </a:solidFill>
              </a:defRPr>
            </a:lvl4pPr>
            <a:lvl5pPr>
              <a:defRPr sz="2100" b="1">
                <a:solidFill>
                  <a:srgbClr val="F7F4EE"/>
                </a:solidFill>
              </a:defRPr>
            </a:lvl5pPr>
            <a:lvl6pPr>
              <a:defRPr sz="2100" b="1">
                <a:solidFill>
                  <a:srgbClr val="F7F4EE"/>
                </a:solidFill>
              </a:defRPr>
            </a:lvl6pPr>
            <a:lvl7pPr>
              <a:defRPr sz="2100" b="1">
                <a:solidFill>
                  <a:srgbClr val="F7F4EE"/>
                </a:solidFill>
              </a:defRPr>
            </a:lvl7pPr>
            <a:lvl8pPr>
              <a:defRPr sz="2100" b="1">
                <a:solidFill>
                  <a:srgbClr val="F7F4EE"/>
                </a:solidFill>
              </a:defRPr>
            </a:lvl8pPr>
            <a:lvl9pPr>
              <a:defRPr sz="2100" b="1">
                <a:solidFill>
                  <a:srgbClr val="F7F4EE"/>
                </a:solidFill>
              </a:defRPr>
            </a:lvl9pPr>
          </a:lstStyle>
          <a:p xmlns:a="http://schemas.openxmlformats.org/drawingml/2006/main">
            <a:pPr>
              <a:defRPr sz="2100" b="1">
                <a:solidFill>
                  <a:srgbClr val="F7F4EE"/>
                </a:solidFill>
              </a:defRPr>
            </a:pPr>
            <a:r>
              <a:rPr sz="2100" b="1">
                <a:solidFill>
                  <a:srgbClr val="F7F4EE"/>
                </a:solidFill>
              </a:rPr>
              <a:t>lower mean latency</a:t>
            </a:r>
          </a:p>
          <a:p xmlns:a="http://schemas.openxmlformats.org/drawingml/2006/main">
            <a:pPr>
              <a:defRPr sz="2100" b="1">
                <a:solidFill>
                  <a:srgbClr val="F7F4EE"/>
                </a:solidFill>
              </a:defRPr>
            </a:pPr>
            <a:r>
              <a:rPr sz="2100" b="1">
                <a:solidFill>
                  <a:srgbClr val="F7F4EE"/>
                </a:solidFill>
              </a:rPr>
              <a:t>than Round Robin</a:t>
            </a:r>
          </a:p>
        </p:txBody>
      </p:sp>
      <p:sp>
        <p:nvSpPr>
          <p:cNvPr id="8" name="For the documented&#10;120-second run">
            <a:extLst xmlns:a="http://schemas.openxmlformats.org/drawingml/2006/main">
              <a:ext uri="{FF2B5EF4-FFF2-40B4-BE49-F238E27FC236}">
                <a16:creationId xmlns:a16="http://schemas.microsoft.com/office/drawing/2014/main" id="{35F2353C-D2F9-4175-B1D1-7990B57BC7E1}"/>
              </a:ext>
            </a:extLst>
          </p:cNvPr>
          <p:cNvSpPr>
            <a:spLocks xmlns:a="http://schemas.openxmlformats.org/drawingml/2006/main" noGrp="1"/>
          </p:cNvSpPr>
          <p:nvPr/>
        </p:nvSpPr>
        <p:spPr>
          <a:xfrm xmlns:a="http://schemas.openxmlformats.org/drawingml/2006/main">
            <a:off x="8743950" y="4638675"/>
            <a:ext cx="261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A0ABB5"/>
                </a:solidFill>
              </a:defRPr>
            </a:defPPr>
            <a:lvl1pPr>
              <a:defRPr sz="1725" b="0">
                <a:solidFill>
                  <a:srgbClr val="A0ABB5"/>
                </a:solidFill>
              </a:defRPr>
            </a:lvl1pPr>
            <a:lvl2pPr>
              <a:defRPr sz="1725" b="0">
                <a:solidFill>
                  <a:srgbClr val="A0ABB5"/>
                </a:solidFill>
              </a:defRPr>
            </a:lvl2pPr>
            <a:lvl3pPr>
              <a:defRPr sz="1725" b="0">
                <a:solidFill>
                  <a:srgbClr val="A0ABB5"/>
                </a:solidFill>
              </a:defRPr>
            </a:lvl3pPr>
            <a:lvl4pPr>
              <a:defRPr sz="1725" b="0">
                <a:solidFill>
                  <a:srgbClr val="A0ABB5"/>
                </a:solidFill>
              </a:defRPr>
            </a:lvl4pPr>
            <a:lvl5pPr>
              <a:defRPr sz="1725" b="0">
                <a:solidFill>
                  <a:srgbClr val="A0ABB5"/>
                </a:solidFill>
              </a:defRPr>
            </a:lvl5pPr>
            <a:lvl6pPr>
              <a:defRPr sz="1725" b="0">
                <a:solidFill>
                  <a:srgbClr val="A0ABB5"/>
                </a:solidFill>
              </a:defRPr>
            </a:lvl6pPr>
            <a:lvl7pPr>
              <a:defRPr sz="1725" b="0">
                <a:solidFill>
                  <a:srgbClr val="A0ABB5"/>
                </a:solidFill>
              </a:defRPr>
            </a:lvl7pPr>
            <a:lvl8pPr>
              <a:defRPr sz="1725" b="0">
                <a:solidFill>
                  <a:srgbClr val="A0ABB5"/>
                </a:solidFill>
              </a:defRPr>
            </a:lvl8pPr>
            <a:lvl9pPr>
              <a:defRPr sz="1725" b="0">
                <a:solidFill>
                  <a:srgbClr val="A0ABB5"/>
                </a:solidFill>
              </a:defRPr>
            </a:lvl9pPr>
          </a:lstStyle>
          <a:p xmlns:a="http://schemas.openxmlformats.org/drawingml/2006/main">
            <a:pPr>
              <a:defRPr sz="1725" b="0">
                <a:solidFill>
                  <a:srgbClr val="A0ABB5"/>
                </a:solidFill>
              </a:defRPr>
            </a:pPr>
            <a:r>
              <a:rPr sz="1725" b="0">
                <a:solidFill>
                  <a:srgbClr val="A0ABB5"/>
                </a:solidFill>
              </a:rPr>
              <a:t>For the documented</a:t>
            </a:r>
          </a:p>
          <a:p xmlns:a="http://schemas.openxmlformats.org/drawingml/2006/main">
            <a:pPr>
              <a:defRPr sz="1725" b="0">
                <a:solidFill>
                  <a:srgbClr val="A0ABB5"/>
                </a:solidFill>
              </a:defRPr>
            </a:pPr>
            <a:r>
              <a:rPr sz="1725" b="0">
                <a:solidFill>
                  <a:srgbClr val="A0ABB5"/>
                </a:solidFill>
              </a:rPr>
              <a:t>120-second run</a:t>
            </a:r>
          </a:p>
        </p:txBody>
      </p:sp>
    </p:spTree>
    <p:extLst>
      <p:ext uri="{BB962C8B-B14F-4D97-AF65-F5344CB8AC3E}">
        <p14:creationId xmlns:p14="http://schemas.microsoft.com/office/powerpoint/2010/main" val="1474127826"/>
      </p:ext>
    </p:extLst>
  </p:cSld>
</p:sld>
</file>

<file path=ppt/slides/slide15.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MEASURED RUN REPORTED BY THE TEAM">
            <a:extLst xmlns:a="http://schemas.openxmlformats.org/drawingml/2006/main">
              <a:ext uri="{FF2B5EF4-FFF2-40B4-BE49-F238E27FC236}">
                <a16:creationId xmlns:a16="http://schemas.microsoft.com/office/drawing/2014/main" id="{B6D4EC09-AE8E-4112-816A-05CC0B69BA55}"/>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MEASURED RUN REPORTED BY THE TEAM</a:t>
            </a:r>
          </a:p>
        </p:txBody>
      </p:sp>
      <p:sp>
        <p:nvSpPr>
          <p:cNvPr id="3" name="Hardware performance comparison">
            <a:extLst xmlns:a="http://schemas.openxmlformats.org/drawingml/2006/main">
              <a:ext uri="{FF2B5EF4-FFF2-40B4-BE49-F238E27FC236}">
                <a16:creationId xmlns:a16="http://schemas.microsoft.com/office/drawing/2014/main" id="{A5D45BD9-19D7-46E4-A4B2-D9652587FC4A}"/>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Hardware performance comparison</a:t>
            </a:r>
          </a:p>
        </p:txBody>
      </p:sp>
      <p:sp>
        <p:nvSpPr>
          <p:cNvPr id="4" name="15">
            <a:extLst xmlns:a="http://schemas.openxmlformats.org/drawingml/2006/main">
              <a:ext uri="{FF2B5EF4-FFF2-40B4-BE49-F238E27FC236}">
                <a16:creationId xmlns:a16="http://schemas.microsoft.com/office/drawing/2014/main" id="{5F542B5F-0A0D-4CBD-94ED-C595408369B5}"/>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15</a:t>
            </a:r>
          </a:p>
        </p:txBody>
      </p:sp>
      <p:graphicFrame>
        <p:nvGraphicFramePr>
          <p:cNvPr id="5" name="">
            <a:extLst xmlns:a="http://schemas.openxmlformats.org/drawingml/2006/main">
              <a:ext uri="{FF2B5EF4-FFF2-40B4-BE49-F238E27FC236}">
                <a16:creationId xmlns:a16="http://schemas.microsoft.com/office/drawing/2014/main" id="{BA040F2D-8675-4A31-80C3-44F3B2F54725}"/>
              </a:ext>
            </a:extLst>
          </p:cNvPr>
          <p:cNvGraphicFramePr/>
          <p:nvPr/>
        </p:nvGraphicFramePr>
        <p:xfrm>
          <a:off xmlns:a="http://schemas.openxmlformats.org/drawingml/2006/main" x="762000" y="1990725"/>
          <a:ext xmlns:a="http://schemas.openxmlformats.org/drawingml/2006/main" cx="10668000" cy="3257550"/>
        </p:xfrm>
        <a:graphic xmlns:a="http://schemas.openxmlformats.org/drawingml/2006/main">
          <a:graphicData uri="http://schemas.openxmlformats.org/drawingml/2006/table">
            <a:tbl>
              <a:tblPr/>
              <a:tblGrid>
                <a:gridCol w="3333750"/>
                <a:gridCol w="2381250"/>
                <a:gridCol w="2571750"/>
                <a:gridCol w="2381250"/>
              </a:tblGrid>
              <a:tr h="542925">
                <a:tc>
                  <a:txBody>
                    <a:bodyPr/>
                    <a:lstStyle/>
                    <a:p>
                      <a:r>
                        <a:rPr sz="1875" b="1">
                          <a:solidFill>
                            <a:srgbClr val="F7F4EE"/>
                          </a:solidFill>
                        </a:rPr>
                        <a:t>Metric</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Round Robin</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Q-learning</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75" b="1">
                          <a:solidFill>
                            <a:srgbClr val="F7F4EE"/>
                          </a:solidFill>
                        </a:rPr>
                        <a:t>EMA</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42925">
                <a:tc>
                  <a:txBody>
                    <a:bodyPr/>
                    <a:lstStyle/>
                    <a:p>
                      <a:r>
                        <a:rPr sz="1875" b="0">
                          <a:solidFill>
                            <a:srgbClr val="F7F4EE"/>
                          </a:solidFill>
                        </a:rPr>
                        <a:t>Requests served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737</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1,156</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731</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Mean latency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518 ms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208 ms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515 ms</a:t>
                      </a:r>
                    </a:p>
                  </a:txBody>
                  <a:tcPr marL="91440" marR="91440" marT="45720" marB="45720">
                    <a:lnR w="9525">
                      <a:solidFill>
                        <a:srgbClr val="0E1822"/>
                      </a:solidFill>
                      <a:prstDash val="solid"/>
                    </a:lnR>
                    <a:lnB w="9525">
                      <a:solidFill>
                        <a:srgbClr val="0E1822"/>
                      </a:solidFill>
                      <a:prstDash val="solid"/>
                    </a:lnB>
                    <a:solidFill>
                      <a:srgbClr val="14202C"/>
                    </a:solidFill>
                  </a:tcPr>
                </a:tc>
              </a:tr>
              <a:tr h="542925">
                <a:tc>
                  <a:txBody>
                    <a:bodyPr/>
                    <a:lstStyle/>
                    <a:p>
                      <a:r>
                        <a:rPr sz="1875" b="0">
                          <a:solidFill>
                            <a:srgbClr val="F7F4EE"/>
                          </a:solidFill>
                        </a:rPr>
                        <a:t>p95 latency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1,186 ms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473 ms</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1,185 ms</a:t>
                      </a:r>
                    </a:p>
                  </a:txBody>
                  <a:tcPr marL="91440" marR="91440" marT="45720" marB="45720">
                    <a:lnR w="9525">
                      <a:solidFill>
                        <a:srgbClr val="0E1822"/>
                      </a:solidFill>
                      <a:prstDash val="solid"/>
                    </a:lnR>
                    <a:lnB w="9525">
                      <a:solidFill>
                        <a:srgbClr val="0E1822"/>
                      </a:solidFill>
                      <a:prstDash val="solid"/>
                    </a:lnB>
                    <a:solidFill>
                      <a:srgbClr val="0E1822"/>
                    </a:solidFill>
                  </a:tcPr>
                </a:tc>
              </a:tr>
              <a:tr h="542925">
                <a:tc>
                  <a:txBody>
                    <a:bodyPr/>
                    <a:lstStyle/>
                    <a:p>
                      <a:r>
                        <a:rPr sz="1875" b="0">
                          <a:solidFill>
                            <a:srgbClr val="F7F4EE"/>
                          </a:solidFill>
                        </a:rPr>
                        <a:t>Throughput</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6.1 req/s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9.6 req/s</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1875" b="0">
                          <a:solidFill>
                            <a:srgbClr val="D8D3CB"/>
                          </a:solidFill>
                        </a:rPr>
                        <a:t>6.1 req/s</a:t>
                      </a:r>
                    </a:p>
                  </a:txBody>
                  <a:tcPr marL="91440" marR="91440" marT="45720" marB="45720">
                    <a:lnR w="9525">
                      <a:solidFill>
                        <a:srgbClr val="0E1822"/>
                      </a:solidFill>
                      <a:prstDash val="solid"/>
                    </a:lnR>
                    <a:lnB w="9525">
                      <a:solidFill>
                        <a:srgbClr val="0E1822"/>
                      </a:solidFill>
                      <a:prstDash val="solid"/>
                    </a:lnB>
                    <a:solidFill>
                      <a:srgbClr val="14202C"/>
                    </a:solidFill>
                  </a:tcPr>
                </a:tc>
              </a:tr>
              <a:tr h="542925">
                <a:tc>
                  <a:txBody>
                    <a:bodyPr/>
                    <a:lstStyle/>
                    <a:p>
                      <a:r>
                        <a:rPr sz="1875" b="0">
                          <a:solidFill>
                            <a:srgbClr val="F7F4EE"/>
                          </a:solidFill>
                        </a:rPr>
                        <a:t>Timeouts</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0</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6</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1875" b="0">
                          <a:solidFill>
                            <a:srgbClr val="D8D3CB"/>
                          </a:solidFill>
                        </a:rPr>
                        <a:t>3</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
        <p:nvSpPr>
          <p:cNvPr id="6" name="Approximately 57% higher reported throughput than Round Robi">
            <a:extLst xmlns:a="http://schemas.openxmlformats.org/drawingml/2006/main">
              <a:ext uri="{FF2B5EF4-FFF2-40B4-BE49-F238E27FC236}">
                <a16:creationId xmlns:a16="http://schemas.microsoft.com/office/drawing/2014/main" id="{E34E8D8A-C20B-4710-B4F0-AE5F98A32E26}"/>
              </a:ext>
            </a:extLst>
          </p:cNvPr>
          <p:cNvSpPr>
            <a:spLocks xmlns:a="http://schemas.openxmlformats.org/drawingml/2006/main" noGrp="1"/>
          </p:cNvSpPr>
          <p:nvPr/>
        </p:nvSpPr>
        <p:spPr>
          <a:xfrm xmlns:a="http://schemas.openxmlformats.org/drawingml/2006/main">
            <a:off x="762000" y="5486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E16A3D"/>
                </a:solidFill>
              </a:defRPr>
            </a:defPPr>
            <a:lvl1pPr>
              <a:defRPr sz="2175" b="1">
                <a:solidFill>
                  <a:srgbClr val="E16A3D"/>
                </a:solidFill>
              </a:defRPr>
            </a:lvl1pPr>
            <a:lvl2pPr>
              <a:defRPr sz="2175" b="1">
                <a:solidFill>
                  <a:srgbClr val="E16A3D"/>
                </a:solidFill>
              </a:defRPr>
            </a:lvl2pPr>
            <a:lvl3pPr>
              <a:defRPr sz="2175" b="1">
                <a:solidFill>
                  <a:srgbClr val="E16A3D"/>
                </a:solidFill>
              </a:defRPr>
            </a:lvl3pPr>
            <a:lvl4pPr>
              <a:defRPr sz="2175" b="1">
                <a:solidFill>
                  <a:srgbClr val="E16A3D"/>
                </a:solidFill>
              </a:defRPr>
            </a:lvl4pPr>
            <a:lvl5pPr>
              <a:defRPr sz="2175" b="1">
                <a:solidFill>
                  <a:srgbClr val="E16A3D"/>
                </a:solidFill>
              </a:defRPr>
            </a:lvl5pPr>
            <a:lvl6pPr>
              <a:defRPr sz="2175" b="1">
                <a:solidFill>
                  <a:srgbClr val="E16A3D"/>
                </a:solidFill>
              </a:defRPr>
            </a:lvl6pPr>
            <a:lvl7pPr>
              <a:defRPr sz="2175" b="1">
                <a:solidFill>
                  <a:srgbClr val="E16A3D"/>
                </a:solidFill>
              </a:defRPr>
            </a:lvl7pPr>
            <a:lvl8pPr>
              <a:defRPr sz="2175" b="1">
                <a:solidFill>
                  <a:srgbClr val="E16A3D"/>
                </a:solidFill>
              </a:defRPr>
            </a:lvl8pPr>
            <a:lvl9pPr>
              <a:defRPr sz="2175" b="1">
                <a:solidFill>
                  <a:srgbClr val="E16A3D"/>
                </a:solidFill>
              </a:defRPr>
            </a:lvl9pPr>
          </a:lstStyle>
          <a:p xmlns:a="http://schemas.openxmlformats.org/drawingml/2006/main">
            <a:pPr>
              <a:defRPr sz="2175" b="1">
                <a:solidFill>
                  <a:srgbClr val="E16A3D"/>
                </a:solidFill>
              </a:defRPr>
            </a:pPr>
            <a:r>
              <a:rPr sz="2175" b="1">
                <a:solidFill>
                  <a:srgbClr val="E16A3D"/>
                </a:solidFill>
              </a:rPr>
              <a:t>Approximately 57% higher reported throughput than Round Robin</a:t>
            </a:r>
          </a:p>
        </p:txBody>
      </p:sp>
    </p:spTree>
    <p:extLst>
      <p:ext uri="{BB962C8B-B14F-4D97-AF65-F5344CB8AC3E}">
        <p14:creationId xmlns:p14="http://schemas.microsoft.com/office/powerpoint/2010/main" val="2072832858"/>
      </p:ext>
    </p:extLst>
  </p:cSld>
</p:sld>
</file>

<file path=ppt/slides/slide16.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IMULATION, AVERAGES OVER 8 SEEDS">
            <a:extLst xmlns:a="http://schemas.openxmlformats.org/drawingml/2006/main">
              <a:ext uri="{FF2B5EF4-FFF2-40B4-BE49-F238E27FC236}">
                <a16:creationId xmlns:a16="http://schemas.microsoft.com/office/drawing/2014/main" id="{6AB6653A-46F7-4D5F-BB46-B700B159FBEA}"/>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SIMULATION, AVERAGES OVER 8 SEEDS</a:t>
            </a:r>
          </a:p>
        </p:txBody>
      </p:sp>
      <p:sp>
        <p:nvSpPr>
          <p:cNvPr id="3" name="Simulation results across three scenarios">
            <a:extLst xmlns:a="http://schemas.openxmlformats.org/drawingml/2006/main">
              <a:ext uri="{FF2B5EF4-FFF2-40B4-BE49-F238E27FC236}">
                <a16:creationId xmlns:a16="http://schemas.microsoft.com/office/drawing/2014/main" id="{5503378D-C749-40FC-924C-4839C521234B}"/>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Simulation results across three scenarios</a:t>
            </a:r>
          </a:p>
        </p:txBody>
      </p:sp>
      <p:sp>
        <p:nvSpPr>
          <p:cNvPr id="4" name="16">
            <a:extLst xmlns:a="http://schemas.openxmlformats.org/drawingml/2006/main">
              <a:ext uri="{FF2B5EF4-FFF2-40B4-BE49-F238E27FC236}">
                <a16:creationId xmlns:a16="http://schemas.microsoft.com/office/drawing/2014/main" id="{4E6BB99E-ED61-4148-B5F3-55F6E31B2137}"/>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16</a:t>
            </a:r>
          </a:p>
        </p:txBody>
      </p:sp>
      <p:graphicFrame>
        <p:nvGraphicFramePr>
          <p:cNvPr id="5" name="">
            <a:extLst xmlns:a="http://schemas.openxmlformats.org/drawingml/2006/main">
              <a:ext uri="{FF2B5EF4-FFF2-40B4-BE49-F238E27FC236}">
                <a16:creationId xmlns:a16="http://schemas.microsoft.com/office/drawing/2014/main" id="{F9D239E1-721B-414E-823F-88BC929BD81E}"/>
              </a:ext>
            </a:extLst>
          </p:cNvPr>
          <p:cNvGraphicFramePr/>
          <p:nvPr/>
        </p:nvGraphicFramePr>
        <p:xfrm>
          <a:off xmlns:a="http://schemas.openxmlformats.org/drawingml/2006/main" x="762000" y="2200275"/>
          <a:ext xmlns:a="http://schemas.openxmlformats.org/drawingml/2006/main" cx="10668000" cy="2628900"/>
        </p:xfrm>
        <a:graphic xmlns:a="http://schemas.openxmlformats.org/drawingml/2006/main">
          <a:graphicData uri="http://schemas.openxmlformats.org/drawingml/2006/table">
            <a:tbl>
              <a:tblPr/>
              <a:tblGrid>
                <a:gridCol w="3810000"/>
                <a:gridCol w="2286000"/>
                <a:gridCol w="2286000"/>
                <a:gridCol w="2286000"/>
              </a:tblGrid>
              <a:tr h="657225">
                <a:tc>
                  <a:txBody>
                    <a:bodyPr/>
                    <a:lstStyle/>
                    <a:p>
                      <a:r>
                        <a:rPr sz="2025" b="1">
                          <a:solidFill>
                            <a:srgbClr val="F7F4EE"/>
                          </a:solidFill>
                        </a:rPr>
                        <a:t>Scenario</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Round Robin</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Q-learning</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2025" b="1">
                          <a:solidFill>
                            <a:srgbClr val="F7F4EE"/>
                          </a:solidFill>
                        </a:rPr>
                        <a:t>EMA</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657225">
                <a:tc>
                  <a:txBody>
                    <a:bodyPr/>
                    <a:lstStyle/>
                    <a:p>
                      <a:r>
                        <a:rPr sz="2025" b="0">
                          <a:solidFill>
                            <a:srgbClr val="F7F4EE"/>
                          </a:solidFill>
                        </a:rPr>
                        <a:t>Smart factory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86.1%</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100.0%</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96.3%</a:t>
                      </a:r>
                    </a:p>
                  </a:txBody>
                  <a:tcPr marL="91440" marR="91440" marT="45720" marB="45720">
                    <a:lnR w="9525">
                      <a:solidFill>
                        <a:srgbClr val="0E1822"/>
                      </a:solidFill>
                      <a:prstDash val="solid"/>
                    </a:lnR>
                    <a:lnB w="9525">
                      <a:solidFill>
                        <a:srgbClr val="0E1822"/>
                      </a:solidFill>
                      <a:prstDash val="solid"/>
                    </a:lnB>
                    <a:solidFill>
                      <a:srgbClr val="0E1822"/>
                    </a:solidFill>
                  </a:tcPr>
                </a:tc>
              </a:tr>
              <a:tr h="657225">
                <a:tc>
                  <a:txBody>
                    <a:bodyPr/>
                    <a:lstStyle/>
                    <a:p>
                      <a:r>
                        <a:rPr sz="2025" b="0">
                          <a:solidFill>
                            <a:srgbClr val="F7F4EE"/>
                          </a:solidFill>
                        </a:rPr>
                        <a:t>Rural clinic</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92.0%</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100.0%</a:t>
                      </a:r>
                    </a:p>
                  </a:txBody>
                  <a:tcPr marL="91440" marR="91440" marT="45720" marB="45720">
                    <a:lnR w="9525">
                      <a:solidFill>
                        <a:srgbClr val="0E1822"/>
                      </a:solidFill>
                      <a:prstDash val="solid"/>
                    </a:lnR>
                    <a:lnB w="9525">
                      <a:solidFill>
                        <a:srgbClr val="0E1822"/>
                      </a:solidFill>
                      <a:prstDash val="solid"/>
                    </a:lnB>
                    <a:solidFill>
                      <a:srgbClr val="14202C"/>
                    </a:solidFill>
                  </a:tcPr>
                </a:tc>
                <a:tc>
                  <a:txBody>
                    <a:bodyPr/>
                    <a:lstStyle/>
                    <a:p>
                      <a:r>
                        <a:rPr sz="2025" b="0">
                          <a:solidFill>
                            <a:srgbClr val="D8D3CB"/>
                          </a:solidFill>
                        </a:rPr>
                        <a:t>98.7%</a:t>
                      </a:r>
                    </a:p>
                  </a:txBody>
                  <a:tcPr marL="91440" marR="91440" marT="45720" marB="45720">
                    <a:lnR w="9525">
                      <a:solidFill>
                        <a:srgbClr val="0E1822"/>
                      </a:solidFill>
                      <a:prstDash val="solid"/>
                    </a:lnR>
                    <a:lnB w="9525">
                      <a:solidFill>
                        <a:srgbClr val="0E1822"/>
                      </a:solidFill>
                      <a:prstDash val="solid"/>
                    </a:lnB>
                    <a:solidFill>
                      <a:srgbClr val="14202C"/>
                    </a:solidFill>
                  </a:tcPr>
                </a:tc>
              </a:tr>
              <a:tr h="657225">
                <a:tc>
                  <a:txBody>
                    <a:bodyPr/>
                    <a:lstStyle/>
                    <a:p>
                      <a:r>
                        <a:rPr sz="2025" b="0">
                          <a:solidFill>
                            <a:srgbClr val="F7F4EE"/>
                          </a:solidFill>
                        </a:rPr>
                        <a:t>Retail POS outage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84.9%</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74.5%</a:t>
                      </a:r>
                    </a:p>
                  </a:txBody>
                  <a:tcPr marL="91440" marR="91440" marT="45720" marB="45720">
                    <a:lnR w="9525">
                      <a:solidFill>
                        <a:srgbClr val="0E1822"/>
                      </a:solidFill>
                      <a:prstDash val="solid"/>
                    </a:lnR>
                    <a:lnB w="9525">
                      <a:solidFill>
                        <a:srgbClr val="0E1822"/>
                      </a:solidFill>
                      <a:prstDash val="solid"/>
                    </a:lnB>
                    <a:solidFill>
                      <a:srgbClr val="0E1822"/>
                    </a:solidFill>
                  </a:tcPr>
                </a:tc>
                <a:tc>
                  <a:txBody>
                    <a:bodyPr/>
                    <a:lstStyle/>
                    <a:p>
                      <a:r>
                        <a:rPr sz="2025" b="0">
                          <a:solidFill>
                            <a:srgbClr val="D8D3CB"/>
                          </a:solidFill>
                        </a:rPr>
                        <a:t>97.2%</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
        <p:nvSpPr>
          <p:cNvPr id="6" name="Goodput = successful answers / all offered requests">
            <a:extLst xmlns:a="http://schemas.openxmlformats.org/drawingml/2006/main">
              <a:ext uri="{FF2B5EF4-FFF2-40B4-BE49-F238E27FC236}">
                <a16:creationId xmlns:a16="http://schemas.microsoft.com/office/drawing/2014/main" id="{9723A810-2799-4730-93CD-677E03BB5F3F}"/>
              </a:ext>
            </a:extLst>
          </p:cNvPr>
          <p:cNvSpPr>
            <a:spLocks xmlns:a="http://schemas.openxmlformats.org/drawingml/2006/main" noGrp="1"/>
          </p:cNvSpPr>
          <p:nvPr/>
        </p:nvSpPr>
        <p:spPr>
          <a:xfrm xmlns:a="http://schemas.openxmlformats.org/drawingml/2006/main">
            <a:off x="762000" y="52768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E16A3D"/>
                </a:solidFill>
              </a:defRPr>
            </a:defPPr>
            <a:lvl1pPr>
              <a:defRPr sz="2325" b="1">
                <a:solidFill>
                  <a:srgbClr val="E16A3D"/>
                </a:solidFill>
              </a:defRPr>
            </a:lvl1pPr>
            <a:lvl2pPr>
              <a:defRPr sz="2325" b="1">
                <a:solidFill>
                  <a:srgbClr val="E16A3D"/>
                </a:solidFill>
              </a:defRPr>
            </a:lvl2pPr>
            <a:lvl3pPr>
              <a:defRPr sz="2325" b="1">
                <a:solidFill>
                  <a:srgbClr val="E16A3D"/>
                </a:solidFill>
              </a:defRPr>
            </a:lvl3pPr>
            <a:lvl4pPr>
              <a:defRPr sz="2325" b="1">
                <a:solidFill>
                  <a:srgbClr val="E16A3D"/>
                </a:solidFill>
              </a:defRPr>
            </a:lvl4pPr>
            <a:lvl5pPr>
              <a:defRPr sz="2325" b="1">
                <a:solidFill>
                  <a:srgbClr val="E16A3D"/>
                </a:solidFill>
              </a:defRPr>
            </a:lvl5pPr>
            <a:lvl6pPr>
              <a:defRPr sz="2325" b="1">
                <a:solidFill>
                  <a:srgbClr val="E16A3D"/>
                </a:solidFill>
              </a:defRPr>
            </a:lvl6pPr>
            <a:lvl7pPr>
              <a:defRPr sz="2325" b="1">
                <a:solidFill>
                  <a:srgbClr val="E16A3D"/>
                </a:solidFill>
              </a:defRPr>
            </a:lvl7pPr>
            <a:lvl8pPr>
              <a:defRPr sz="2325" b="1">
                <a:solidFill>
                  <a:srgbClr val="E16A3D"/>
                </a:solidFill>
              </a:defRPr>
            </a:lvl8pPr>
            <a:lvl9pPr>
              <a:defRPr sz="2325" b="1">
                <a:solidFill>
                  <a:srgbClr val="E16A3D"/>
                </a:solidFill>
              </a:defRPr>
            </a:lvl9pPr>
          </a:lstStyle>
          <a:p xmlns:a="http://schemas.openxmlformats.org/drawingml/2006/main">
            <a:pPr>
              <a:defRPr sz="2325" b="1">
                <a:solidFill>
                  <a:srgbClr val="E16A3D"/>
                </a:solidFill>
              </a:defRPr>
            </a:pPr>
            <a:r>
              <a:rPr sz="2325" b="1">
                <a:solidFill>
                  <a:srgbClr val="E16A3D"/>
                </a:solidFill>
              </a:rPr>
              <a:t>Goodput = successful answers / all offered requests</a:t>
            </a:r>
          </a:p>
        </p:txBody>
      </p:sp>
    </p:spTree>
    <p:extLst>
      <p:ext uri="{BB962C8B-B14F-4D97-AF65-F5344CB8AC3E}">
        <p14:creationId xmlns:p14="http://schemas.microsoft.com/office/powerpoint/2010/main" val="1024159778"/>
      </p:ext>
    </p:extLst>
  </p:cSld>
</p:sld>
</file>

<file path=ppt/slides/slide17.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IMULATION, AVERAGES OVER 8 SEEDS">
            <a:extLst xmlns:a="http://schemas.openxmlformats.org/drawingml/2006/main">
              <a:ext uri="{FF2B5EF4-FFF2-40B4-BE49-F238E27FC236}">
                <a16:creationId xmlns:a16="http://schemas.microsoft.com/office/drawing/2014/main" id="{9FA82C52-FB54-4B92-9D4D-9007FA49CA4D}"/>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SIMULATION, AVERAGES OVER 8 SEEDS</a:t>
            </a:r>
          </a:p>
        </p:txBody>
      </p:sp>
      <p:sp>
        <p:nvSpPr>
          <p:cNvPr id="3" name="Backend differences determine the benefit">
            <a:extLst xmlns:a="http://schemas.openxmlformats.org/drawingml/2006/main">
              <a:ext uri="{FF2B5EF4-FFF2-40B4-BE49-F238E27FC236}">
                <a16:creationId xmlns:a16="http://schemas.microsoft.com/office/drawing/2014/main" id="{E56FFFCC-1579-4016-803D-619780415B0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Backend differences determine the benefit</a:t>
            </a:r>
          </a:p>
        </p:txBody>
      </p:sp>
      <p:sp>
        <p:nvSpPr>
          <p:cNvPr id="4" name="17">
            <a:extLst xmlns:a="http://schemas.openxmlformats.org/drawingml/2006/main">
              <a:ext uri="{FF2B5EF4-FFF2-40B4-BE49-F238E27FC236}">
                <a16:creationId xmlns:a16="http://schemas.microsoft.com/office/drawing/2014/main" id="{5501CE39-0097-4E0C-A1B7-856DB66570B4}"/>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17</a:t>
            </a:r>
          </a:p>
        </p:txBody>
      </p:sp>
      <p:graphicFrame>
        <p:nvGraphicFramePr>
          <p:cNvPr id="5" name="Chart">
            <a:extLst xmlns:a="http://schemas.openxmlformats.org/drawingml/2006/main">
              <a:ext uri="{FF2B5EF4-FFF2-40B4-BE49-F238E27FC236}">
                <a16:creationId xmlns:a16="http://schemas.microsoft.com/office/drawing/2014/main" id="{983DC98F-291B-48C6-88D5-D9B576BC2D31}"/>
              </a:ext>
            </a:extLst>
          </p:cNvPr>
          <p:cNvGraphicFramePr/>
          <p:nvPr/>
        </p:nvGraphicFramePr>
        <p:xfrm>
          <a:off xmlns:a="http://schemas.openxmlformats.org/drawingml/2006/main" x="762000" y="2009775"/>
          <a:ext xmlns:a="http://schemas.openxmlformats.org/drawingml/2006/main" cx="7620000" cy="3714750"/>
        </p:xfrm>
        <a:graphic xmlns:a="http://schemas.openxmlformats.org/drawingml/2006/main">
          <a:graphicData uri="http://schemas.openxmlformats.org/drawingml/2006/chart">
            <c:chart xmlns:r="http://schemas.openxmlformats.org/officeDocument/2006/relationships" xmlns:c="http://schemas.openxmlformats.org/drawingml/2006/chart" r:id="R40f1ab281566496d"/>
          </a:graphicData>
        </a:graphic>
      </p:graphicFrame>
      <p:sp>
        <p:nvSpPr>
          <p:cNvPr id="6" name="+43.9">
            <a:extLst xmlns:a="http://schemas.openxmlformats.org/drawingml/2006/main">
              <a:ext uri="{FF2B5EF4-FFF2-40B4-BE49-F238E27FC236}">
                <a16:creationId xmlns:a16="http://schemas.microsoft.com/office/drawing/2014/main" id="{43D38553-A152-44F4-BBF7-AD49F18AEE15}"/>
              </a:ext>
            </a:extLst>
          </p:cNvPr>
          <p:cNvSpPr>
            <a:spLocks xmlns:a="http://schemas.openxmlformats.org/drawingml/2006/main" noGrp="1"/>
          </p:cNvSpPr>
          <p:nvPr/>
        </p:nvSpPr>
        <p:spPr>
          <a:xfrm xmlns:a="http://schemas.openxmlformats.org/drawingml/2006/main">
            <a:off x="8820150" y="25146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E16A3D"/>
                </a:solidFill>
              </a:defRPr>
            </a:defPPr>
            <a:lvl1pPr>
              <a:defRPr sz="4275" b="1">
                <a:solidFill>
                  <a:srgbClr val="E16A3D"/>
                </a:solidFill>
              </a:defRPr>
            </a:lvl1pPr>
            <a:lvl2pPr>
              <a:defRPr sz="4275" b="1">
                <a:solidFill>
                  <a:srgbClr val="E16A3D"/>
                </a:solidFill>
              </a:defRPr>
            </a:lvl2pPr>
            <a:lvl3pPr>
              <a:defRPr sz="4275" b="1">
                <a:solidFill>
                  <a:srgbClr val="E16A3D"/>
                </a:solidFill>
              </a:defRPr>
            </a:lvl3pPr>
            <a:lvl4pPr>
              <a:defRPr sz="4275" b="1">
                <a:solidFill>
                  <a:srgbClr val="E16A3D"/>
                </a:solidFill>
              </a:defRPr>
            </a:lvl4pPr>
            <a:lvl5pPr>
              <a:defRPr sz="4275" b="1">
                <a:solidFill>
                  <a:srgbClr val="E16A3D"/>
                </a:solidFill>
              </a:defRPr>
            </a:lvl5pPr>
            <a:lvl6pPr>
              <a:defRPr sz="4275" b="1">
                <a:solidFill>
                  <a:srgbClr val="E16A3D"/>
                </a:solidFill>
              </a:defRPr>
            </a:lvl6pPr>
            <a:lvl7pPr>
              <a:defRPr sz="4275" b="1">
                <a:solidFill>
                  <a:srgbClr val="E16A3D"/>
                </a:solidFill>
              </a:defRPr>
            </a:lvl7pPr>
            <a:lvl8pPr>
              <a:defRPr sz="4275" b="1">
                <a:solidFill>
                  <a:srgbClr val="E16A3D"/>
                </a:solidFill>
              </a:defRPr>
            </a:lvl8pPr>
            <a:lvl9pPr>
              <a:defRPr sz="4275" b="1">
                <a:solidFill>
                  <a:srgbClr val="E16A3D"/>
                </a:solidFill>
              </a:defRPr>
            </a:lvl9pPr>
          </a:lstStyle>
          <a:p xmlns:a="http://schemas.openxmlformats.org/drawingml/2006/main">
            <a:pPr>
              <a:defRPr sz="4275" b="1">
                <a:solidFill>
                  <a:srgbClr val="E16A3D"/>
                </a:solidFill>
              </a:defRPr>
            </a:pPr>
            <a:r>
              <a:rPr sz="4275" b="1">
                <a:solidFill>
                  <a:srgbClr val="E16A3D"/>
                </a:solidFill>
              </a:rPr>
              <a:t>+43.9</a:t>
            </a:r>
          </a:p>
        </p:txBody>
      </p:sp>
      <p:sp>
        <p:nvSpPr>
          <p:cNvPr id="7" name="percentage points&#10;QL over RR at 12×">
            <a:extLst xmlns:a="http://schemas.openxmlformats.org/drawingml/2006/main">
              <a:ext uri="{FF2B5EF4-FFF2-40B4-BE49-F238E27FC236}">
                <a16:creationId xmlns:a16="http://schemas.microsoft.com/office/drawing/2014/main" id="{4E95047A-7A1E-449C-8040-1DCB97030D42}"/>
              </a:ext>
            </a:extLst>
          </p:cNvPr>
          <p:cNvSpPr>
            <a:spLocks xmlns:a="http://schemas.openxmlformats.org/drawingml/2006/main" noGrp="1"/>
          </p:cNvSpPr>
          <p:nvPr/>
        </p:nvSpPr>
        <p:spPr>
          <a:xfrm xmlns:a="http://schemas.openxmlformats.org/drawingml/2006/main">
            <a:off x="8820150" y="34480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7F4EE"/>
                </a:solidFill>
              </a:defRPr>
            </a:defPPr>
            <a:lvl1pPr>
              <a:defRPr sz="2025" b="1">
                <a:solidFill>
                  <a:srgbClr val="F7F4EE"/>
                </a:solidFill>
              </a:defRPr>
            </a:lvl1pPr>
            <a:lvl2pPr>
              <a:defRPr sz="2025" b="1">
                <a:solidFill>
                  <a:srgbClr val="F7F4EE"/>
                </a:solidFill>
              </a:defRPr>
            </a:lvl2pPr>
            <a:lvl3pPr>
              <a:defRPr sz="2025" b="1">
                <a:solidFill>
                  <a:srgbClr val="F7F4EE"/>
                </a:solidFill>
              </a:defRPr>
            </a:lvl3pPr>
            <a:lvl4pPr>
              <a:defRPr sz="2025" b="1">
                <a:solidFill>
                  <a:srgbClr val="F7F4EE"/>
                </a:solidFill>
              </a:defRPr>
            </a:lvl4pPr>
            <a:lvl5pPr>
              <a:defRPr sz="2025" b="1">
                <a:solidFill>
                  <a:srgbClr val="F7F4EE"/>
                </a:solidFill>
              </a:defRPr>
            </a:lvl5pPr>
            <a:lvl6pPr>
              <a:defRPr sz="2025" b="1">
                <a:solidFill>
                  <a:srgbClr val="F7F4EE"/>
                </a:solidFill>
              </a:defRPr>
            </a:lvl6pPr>
            <a:lvl7pPr>
              <a:defRPr sz="2025" b="1">
                <a:solidFill>
                  <a:srgbClr val="F7F4EE"/>
                </a:solidFill>
              </a:defRPr>
            </a:lvl7pPr>
            <a:lvl8pPr>
              <a:defRPr sz="2025" b="1">
                <a:solidFill>
                  <a:srgbClr val="F7F4EE"/>
                </a:solidFill>
              </a:defRPr>
            </a:lvl8pPr>
            <a:lvl9pPr>
              <a:defRPr sz="2025" b="1">
                <a:solidFill>
                  <a:srgbClr val="F7F4EE"/>
                </a:solidFill>
              </a:defRPr>
            </a:lvl9pPr>
          </a:lstStyle>
          <a:p xmlns:a="http://schemas.openxmlformats.org/drawingml/2006/main">
            <a:pPr>
              <a:defRPr sz="2025" b="1">
                <a:solidFill>
                  <a:srgbClr val="F7F4EE"/>
                </a:solidFill>
              </a:defRPr>
            </a:pPr>
            <a:r>
              <a:rPr sz="2025" b="1">
                <a:solidFill>
                  <a:srgbClr val="F7F4EE"/>
                </a:solidFill>
              </a:rPr>
              <a:t>percentage points</a:t>
            </a:r>
          </a:p>
          <a:p xmlns:a="http://schemas.openxmlformats.org/drawingml/2006/main">
            <a:pPr>
              <a:defRPr sz="2025" b="1">
                <a:solidFill>
                  <a:srgbClr val="F7F4EE"/>
                </a:solidFill>
              </a:defRPr>
            </a:pPr>
            <a:r>
              <a:rPr sz="2025" b="1">
                <a:solidFill>
                  <a:srgbClr val="F7F4EE"/>
                </a:solidFill>
              </a:rPr>
              <a:t>QL over RR at 12×</a:t>
            </a:r>
          </a:p>
        </p:txBody>
      </p:sp>
    </p:spTree>
    <p:extLst>
      <p:ext uri="{BB962C8B-B14F-4D97-AF65-F5344CB8AC3E}">
        <p14:creationId xmlns:p14="http://schemas.microsoft.com/office/powerpoint/2010/main" val="1669183307"/>
      </p:ext>
    </p:extLst>
  </p:cSld>
</p:sld>
</file>

<file path=ppt/slides/slide18.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IMULATION FINDING">
            <a:extLst xmlns:a="http://schemas.openxmlformats.org/drawingml/2006/main">
              <a:ext uri="{FF2B5EF4-FFF2-40B4-BE49-F238E27FC236}">
                <a16:creationId xmlns:a16="http://schemas.microsoft.com/office/drawing/2014/main" id="{AB36163C-90F9-4CC8-95A7-84CA3D01DC6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SIMULATION FINDING</a:t>
            </a:r>
          </a:p>
        </p:txBody>
      </p:sp>
      <p:sp>
        <p:nvSpPr>
          <p:cNvPr id="3" name="Known weakness under changing load">
            <a:extLst xmlns:a="http://schemas.openxmlformats.org/drawingml/2006/main">
              <a:ext uri="{FF2B5EF4-FFF2-40B4-BE49-F238E27FC236}">
                <a16:creationId xmlns:a16="http://schemas.microsoft.com/office/drawing/2014/main" id="{B27FD4C9-E526-48B6-B1D6-84B0F955A369}"/>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Known weakness under changing load</a:t>
            </a:r>
          </a:p>
        </p:txBody>
      </p:sp>
      <p:sp>
        <p:nvSpPr>
          <p:cNvPr id="4" name="18">
            <a:extLst xmlns:a="http://schemas.openxmlformats.org/drawingml/2006/main">
              <a:ext uri="{FF2B5EF4-FFF2-40B4-BE49-F238E27FC236}">
                <a16:creationId xmlns:a16="http://schemas.microsoft.com/office/drawing/2014/main" id="{C59395D1-1149-4AE9-B9A5-08E92CF29C45}"/>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18</a:t>
            </a:r>
          </a:p>
        </p:txBody>
      </p:sp>
      <p:sp>
        <p:nvSpPr>
          <p:cNvPr id="5" name="Retail POS result">
            <a:extLst xmlns:a="http://schemas.openxmlformats.org/drawingml/2006/main">
              <a:ext uri="{FF2B5EF4-FFF2-40B4-BE49-F238E27FC236}">
                <a16:creationId xmlns:a16="http://schemas.microsoft.com/office/drawing/2014/main" id="{28568BD2-8FB9-4829-9C80-EA4AD5443B4B}"/>
              </a:ext>
            </a:extLst>
          </p:cNvPr>
          <p:cNvSpPr>
            <a:spLocks xmlns:a="http://schemas.openxmlformats.org/drawingml/2006/main" noGrp="1"/>
          </p:cNvSpPr>
          <p:nvPr/>
        </p:nvSpPr>
        <p:spPr>
          <a:xfrm xmlns:a="http://schemas.openxmlformats.org/drawingml/2006/main">
            <a:off x="762000" y="2066925"/>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Retail POS result</a:t>
            </a:r>
          </a:p>
        </p:txBody>
      </p:sp>
      <p:sp>
        <p:nvSpPr>
          <p:cNvPr id="6" name="Q-learning achieves 74.5% goodput, compared with 84.9% for R">
            <a:extLst xmlns:a="http://schemas.openxmlformats.org/drawingml/2006/main">
              <a:ext uri="{FF2B5EF4-FFF2-40B4-BE49-F238E27FC236}">
                <a16:creationId xmlns:a16="http://schemas.microsoft.com/office/drawing/2014/main" id="{71B0D86A-B535-4F49-8031-56A543FA45B2}"/>
              </a:ext>
            </a:extLst>
          </p:cNvPr>
          <p:cNvSpPr>
            <a:spLocks xmlns:a="http://schemas.openxmlformats.org/drawingml/2006/main" noGrp="1"/>
          </p:cNvSpPr>
          <p:nvPr/>
        </p:nvSpPr>
        <p:spPr>
          <a:xfrm xmlns:a="http://schemas.openxmlformats.org/drawingml/2006/main">
            <a:off x="762000" y="2486025"/>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Q-learning achieves 74.5% goodput, compared with 84.9% for Round Robin and 97.2% for EMA.</a:t>
            </a:r>
          </a:p>
        </p:txBody>
      </p:sp>
      <p:sp>
        <p:nvSpPr>
          <p:cNvPr id="7" name="Cause">
            <a:extLst xmlns:a="http://schemas.openxmlformats.org/drawingml/2006/main">
              <a:ext uri="{FF2B5EF4-FFF2-40B4-BE49-F238E27FC236}">
                <a16:creationId xmlns:a16="http://schemas.microsoft.com/office/drawing/2014/main" id="{8A0837F4-8671-4C7C-B80E-FB9F330C6125}"/>
              </a:ext>
            </a:extLst>
          </p:cNvPr>
          <p:cNvSpPr>
            <a:spLocks xmlns:a="http://schemas.openxmlformats.org/drawingml/2006/main" noGrp="1"/>
          </p:cNvSpPr>
          <p:nvPr/>
        </p:nvSpPr>
        <p:spPr>
          <a:xfrm xmlns:a="http://schemas.openxmlformats.org/drawingml/2006/main">
            <a:off x="762000" y="33718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Cause</a:t>
            </a:r>
          </a:p>
        </p:txBody>
      </p:sp>
      <p:sp>
        <p:nvSpPr>
          <p:cNvPr id="8" name="Nearly identical backends provide a weak initial signal. Exp">
            <a:extLst xmlns:a="http://schemas.openxmlformats.org/drawingml/2006/main">
              <a:ext uri="{FF2B5EF4-FFF2-40B4-BE49-F238E27FC236}">
                <a16:creationId xmlns:a16="http://schemas.microsoft.com/office/drawing/2014/main" id="{A30488C2-43C0-4AAA-9236-30748FA1374A}"/>
              </a:ext>
            </a:extLst>
          </p:cNvPr>
          <p:cNvSpPr>
            <a:spLocks xmlns:a="http://schemas.openxmlformats.org/drawingml/2006/main" noGrp="1"/>
          </p:cNvSpPr>
          <p:nvPr/>
        </p:nvSpPr>
        <p:spPr>
          <a:xfrm xmlns:a="http://schemas.openxmlformats.org/drawingml/2006/main">
            <a:off x="762000" y="37909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Nearly identical backends provide a weak initial signal. Exploration reaches its floor before the later degradation.</a:t>
            </a:r>
          </a:p>
        </p:txBody>
      </p:sp>
      <p:sp>
        <p:nvSpPr>
          <p:cNvPr id="9" name="Experiment and remaining work">
            <a:extLst xmlns:a="http://schemas.openxmlformats.org/drawingml/2006/main">
              <a:ext uri="{FF2B5EF4-FFF2-40B4-BE49-F238E27FC236}">
                <a16:creationId xmlns:a16="http://schemas.microsoft.com/office/drawing/2014/main" id="{7C66DE97-978B-4778-B617-DCB4818900DC}"/>
              </a:ext>
            </a:extLst>
          </p:cNvPr>
          <p:cNvSpPr>
            <a:spLocks xmlns:a="http://schemas.openxmlformats.org/drawingml/2006/main" noGrp="1"/>
          </p:cNvSpPr>
          <p:nvPr/>
        </p:nvSpPr>
        <p:spPr>
          <a:xfrm xmlns:a="http://schemas.openxmlformats.org/drawingml/2006/main">
            <a:off x="762000" y="4667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Experiment and remaining work</a:t>
            </a:r>
          </a:p>
        </p:txBody>
      </p:sp>
      <p:sp>
        <p:nvSpPr>
          <p:cNvPr id="10" name="A 0.15 exploration floor lifts simulated goodput to 85.5%. A">
            <a:extLst xmlns:a="http://schemas.openxmlformats.org/drawingml/2006/main">
              <a:ext uri="{FF2B5EF4-FFF2-40B4-BE49-F238E27FC236}">
                <a16:creationId xmlns:a16="http://schemas.microsoft.com/office/drawing/2014/main" id="{21474069-B8F3-495C-94E6-C3A9D9E395DF}"/>
              </a:ext>
            </a:extLst>
          </p:cNvPr>
          <p:cNvSpPr>
            <a:spLocks xmlns:a="http://schemas.openxmlformats.org/drawingml/2006/main" noGrp="1"/>
          </p:cNvSpPr>
          <p:nvPr/>
        </p:nvSpPr>
        <p:spPr>
          <a:xfrm xmlns:a="http://schemas.openxmlformats.org/drawingml/2006/main">
            <a:off x="762000" y="5086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A 0.15 exploration floor lifts simulated goodput to 85.5%. Adaptive re-exploration remains future work.</a:t>
            </a:r>
          </a:p>
        </p:txBody>
      </p:sp>
    </p:spTree>
    <p:extLst>
      <p:ext uri="{BB962C8B-B14F-4D97-AF65-F5344CB8AC3E}">
        <p14:creationId xmlns:p14="http://schemas.microsoft.com/office/powerpoint/2010/main" val="601663995"/>
      </p:ext>
    </p:extLst>
  </p:cSld>
</p:sld>
</file>

<file path=ppt/slides/slide19.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ENGINEERING ASSESSMENT">
            <a:extLst xmlns:a="http://schemas.openxmlformats.org/drawingml/2006/main">
              <a:ext uri="{FF2B5EF4-FFF2-40B4-BE49-F238E27FC236}">
                <a16:creationId xmlns:a16="http://schemas.microsoft.com/office/drawing/2014/main" id="{0D26C765-C852-49A0-A63B-59BDD6F0C191}"/>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ENGINEERING ASSESSMENT</a:t>
            </a:r>
          </a:p>
        </p:txBody>
      </p:sp>
      <p:sp>
        <p:nvSpPr>
          <p:cNvPr id="3" name="Current scope and limitations">
            <a:extLst xmlns:a="http://schemas.openxmlformats.org/drawingml/2006/main">
              <a:ext uri="{FF2B5EF4-FFF2-40B4-BE49-F238E27FC236}">
                <a16:creationId xmlns:a16="http://schemas.microsoft.com/office/drawing/2014/main" id="{711EF6C7-B42A-4B4A-A8E8-99358E620234}"/>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Current scope and limitations</a:t>
            </a:r>
          </a:p>
        </p:txBody>
      </p:sp>
      <p:sp>
        <p:nvSpPr>
          <p:cNvPr id="4" name="19">
            <a:extLst xmlns:a="http://schemas.openxmlformats.org/drawingml/2006/main">
              <a:ext uri="{FF2B5EF4-FFF2-40B4-BE49-F238E27FC236}">
                <a16:creationId xmlns:a16="http://schemas.microsoft.com/office/drawing/2014/main" id="{A38E50D6-B5F3-48F0-9943-38BFB291057C}"/>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19</a:t>
            </a:r>
          </a:p>
        </p:txBody>
      </p:sp>
      <p:graphicFrame>
        <p:nvGraphicFramePr>
          <p:cNvPr id="5" name="">
            <a:extLst xmlns:a="http://schemas.openxmlformats.org/drawingml/2006/main">
              <a:ext uri="{FF2B5EF4-FFF2-40B4-BE49-F238E27FC236}">
                <a16:creationId xmlns:a16="http://schemas.microsoft.com/office/drawing/2014/main" id="{66B4F89E-2DCA-4B63-9839-52FD9C7498D6}"/>
              </a:ext>
            </a:extLst>
          </p:cNvPr>
          <p:cNvGraphicFramePr/>
          <p:nvPr/>
        </p:nvGraphicFramePr>
        <p:xfrm>
          <a:off xmlns:a="http://schemas.openxmlformats.org/drawingml/2006/main" x="762000" y="2009775"/>
          <a:ext xmlns:a="http://schemas.openxmlformats.org/drawingml/2006/main" cx="10668000" cy="3486150"/>
        </p:xfrm>
        <a:graphic xmlns:a="http://schemas.openxmlformats.org/drawingml/2006/main">
          <a:graphicData uri="http://schemas.openxmlformats.org/drawingml/2006/table">
            <a:tbl>
              <a:tblPr/>
              <a:tblGrid>
                <a:gridCol w="2667000"/>
                <a:gridCol w="8001000"/>
              </a:tblGrid>
              <a:tr h="581025">
                <a:tc>
                  <a:txBody>
                    <a:bodyPr/>
                    <a:lstStyle/>
                    <a:p>
                      <a:r>
                        <a:rPr sz="1800" b="1">
                          <a:solidFill>
                            <a:srgbClr val="F7F4EE"/>
                          </a:solidFill>
                        </a:rPr>
                        <a:t>Area</a:t>
                      </a:r>
                    </a:p>
                  </a:txBody>
                  <a:tcPr marL="91440" marR="91440" marT="45720" marB="45720">
                    <a:lnL w="9525">
                      <a:solidFill>
                        <a:srgbClr val="0E1822"/>
                      </a:solidFill>
                      <a:prstDash val="solid"/>
                    </a:lnL>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c>
                  <a:txBody>
                    <a:bodyPr/>
                    <a:lstStyle/>
                    <a:p>
                      <a:r>
                        <a:rPr sz="1800" b="1">
                          <a:solidFill>
                            <a:srgbClr val="F7F4EE"/>
                          </a:solidFill>
                        </a:rPr>
                        <a:t>Current boundary</a:t>
                      </a:r>
                    </a:p>
                  </a:txBody>
                  <a:tcPr marL="91440" marR="91440" marT="45720" marB="45720">
                    <a:lnR w="9525">
                      <a:solidFill>
                        <a:srgbClr val="0E1822"/>
                      </a:solidFill>
                      <a:prstDash val="solid"/>
                    </a:lnR>
                    <a:lnT w="9525">
                      <a:solidFill>
                        <a:srgbClr val="0E1822"/>
                      </a:solidFill>
                      <a:prstDash val="solid"/>
                    </a:lnT>
                    <a:lnB w="9525">
                      <a:solidFill>
                        <a:srgbClr val="0E1822"/>
                      </a:solidFill>
                      <a:prstDash val="solid"/>
                    </a:lnB>
                    <a:solidFill>
                      <a:srgbClr val="1A2835"/>
                    </a:solidFill>
                  </a:tcPr>
                </a:tc>
              </a:tr>
              <a:tr h="581025">
                <a:tc>
                  <a:txBody>
                    <a:bodyPr/>
                    <a:lstStyle/>
                    <a:p>
                      <a:r>
                        <a:rPr sz="1800" b="0">
                          <a:solidFill>
                            <a:srgbClr val="F7F4EE"/>
                          </a:solidFill>
                        </a:rPr>
                        <a:t>Capacity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Seven concurrent proxy sessions in this firmware build</a:t>
                      </a:r>
                    </a:p>
                  </a:txBody>
                  <a:tcPr marL="91440" marR="91440" marT="45720" marB="45720">
                    <a:lnR w="9525">
                      <a:solidFill>
                        <a:srgbClr val="0E1822"/>
                      </a:solidFill>
                      <a:prstDash val="solid"/>
                    </a:lnR>
                    <a:lnB w="9525">
                      <a:solidFill>
                        <a:srgbClr val="0E1822"/>
                      </a:solidFill>
                      <a:prstDash val="solid"/>
                    </a:lnB>
                    <a:solidFill>
                      <a:srgbClr val="0E1822"/>
                    </a:solidFill>
                  </a:tcPr>
                </a:tc>
              </a:tr>
              <a:tr h="581025">
                <a:tc>
                  <a:txBody>
                    <a:bodyPr/>
                    <a:lstStyle/>
                    <a:p>
                      <a:r>
                        <a:rPr sz="1800" b="0">
                          <a:solidFill>
                            <a:srgbClr val="F7F4EE"/>
                          </a:solidFill>
                        </a:rPr>
                        <a:t>Security</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No TLS termination or authentication in the prototype</a:t>
                      </a:r>
                    </a:p>
                  </a:txBody>
                  <a:tcPr marL="91440" marR="91440" marT="45720" marB="45720">
                    <a:lnR w="9525">
                      <a:solidFill>
                        <a:srgbClr val="0E1822"/>
                      </a:solidFill>
                      <a:prstDash val="solid"/>
                    </a:lnR>
                    <a:lnB w="9525">
                      <a:solidFill>
                        <a:srgbClr val="0E1822"/>
                      </a:solidFill>
                      <a:prstDash val="solid"/>
                    </a:lnB>
                    <a:solidFill>
                      <a:srgbClr val="14202C"/>
                    </a:solidFill>
                  </a:tcPr>
                </a:tc>
              </a:tr>
              <a:tr h="581025">
                <a:tc>
                  <a:txBody>
                    <a:bodyPr/>
                    <a:lstStyle/>
                    <a:p>
                      <a:r>
                        <a:rPr sz="1800" b="0">
                          <a:solidFill>
                            <a:srgbClr val="F7F4EE"/>
                          </a:solidFill>
                        </a:rPr>
                        <a:t>Workload</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Local controlled tests with synthetic client traffic</a:t>
                      </a:r>
                    </a:p>
                  </a:txBody>
                  <a:tcPr marL="91440" marR="91440" marT="45720" marB="45720">
                    <a:lnR w="9525">
                      <a:solidFill>
                        <a:srgbClr val="0E1822"/>
                      </a:solidFill>
                      <a:prstDash val="solid"/>
                    </a:lnR>
                    <a:lnB w="9525">
                      <a:solidFill>
                        <a:srgbClr val="0E1822"/>
                      </a:solidFill>
                      <a:prstDash val="solid"/>
                    </a:lnB>
                    <a:solidFill>
                      <a:srgbClr val="0E1822"/>
                    </a:solidFill>
                  </a:tcPr>
                </a:tc>
              </a:tr>
              <a:tr h="581025">
                <a:tc>
                  <a:txBody>
                    <a:bodyPr/>
                    <a:lstStyle/>
                    <a:p>
                      <a:r>
                        <a:rPr sz="1800" b="0">
                          <a:solidFill>
                            <a:srgbClr val="F7F4EE"/>
                          </a:solidFill>
                        </a:rPr>
                        <a:t>Learning</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14202C"/>
                    </a:solidFill>
                  </a:tcPr>
                </a:tc>
                <a:tc>
                  <a:txBody>
                    <a:bodyPr/>
                    <a:lstStyle/>
                    <a:p>
                      <a:r>
                        <a:rPr sz="1800" b="0">
                          <a:solidFill>
                            <a:srgbClr val="D8D3CB"/>
                          </a:solidFill>
                        </a:rPr>
                        <a:t>A saved policy can become stale when backend conditions change</a:t>
                      </a:r>
                    </a:p>
                  </a:txBody>
                  <a:tcPr marL="91440" marR="91440" marT="45720" marB="45720">
                    <a:lnR w="9525">
                      <a:solidFill>
                        <a:srgbClr val="0E1822"/>
                      </a:solidFill>
                      <a:prstDash val="solid"/>
                    </a:lnR>
                    <a:lnB w="9525">
                      <a:solidFill>
                        <a:srgbClr val="0E1822"/>
                      </a:solidFill>
                      <a:prstDash val="solid"/>
                    </a:lnB>
                    <a:solidFill>
                      <a:srgbClr val="14202C"/>
                    </a:solidFill>
                  </a:tcPr>
                </a:tc>
              </a:tr>
              <a:tr h="581025">
                <a:tc>
                  <a:txBody>
                    <a:bodyPr/>
                    <a:lstStyle/>
                    <a:p>
                      <a:r>
                        <a:rPr sz="1800" b="0">
                          <a:solidFill>
                            <a:srgbClr val="F7F4EE"/>
                          </a:solidFill>
                        </a:rPr>
                        <a:t>Evidence</a:t>
                      </a:r>
                    </a:p>
                  </a:txBody>
                  <a:tcPr marL="91440" marR="91440" marT="45720" marB="45720">
                    <a:lnL w="9525">
                      <a:solidFill>
                        <a:srgbClr val="0E1822"/>
                      </a:solidFill>
                      <a:prstDash val="solid"/>
                    </a:lnL>
                    <a:lnR w="9525">
                      <a:solidFill>
                        <a:srgbClr val="0E1822"/>
                      </a:solidFill>
                      <a:prstDash val="solid"/>
                    </a:lnR>
                    <a:lnB w="9525">
                      <a:solidFill>
                        <a:srgbClr val="0E1822"/>
                      </a:solidFill>
                      <a:prstDash val="solid"/>
                    </a:lnB>
                    <a:solidFill>
                      <a:srgbClr val="0E1822"/>
                    </a:solidFill>
                  </a:tcPr>
                </a:tc>
                <a:tc>
                  <a:txBody>
                    <a:bodyPr/>
                    <a:lstStyle/>
                    <a:p>
                      <a:r>
                        <a:rPr sz="1800" b="0">
                          <a:solidFill>
                            <a:srgbClr val="D8D3CB"/>
                          </a:solidFill>
                        </a:rPr>
                        <a:t>One documented hardware run, plus separate simulations</a:t>
                      </a:r>
                    </a:p>
                  </a:txBody>
                  <a:tcPr marL="91440" marR="91440" marT="45720" marB="45720">
                    <a:lnR w="9525">
                      <a:solidFill>
                        <a:srgbClr val="0E1822"/>
                      </a:solidFill>
                      <a:prstDash val="solid"/>
                    </a:lnR>
                    <a:lnB w="9525">
                      <a:solidFill>
                        <a:srgbClr val="0E1822"/>
                      </a:solidFill>
                      <a:prstDash val="solid"/>
                    </a:lnB>
                    <a:solidFill>
                      <a:srgbClr val="0E1822"/>
                    </a:solidFill>
                  </a:tcPr>
                </a:tc>
              </a:tr>
            </a:tbl>
          </a:graphicData>
        </a:graphic>
      </p:graphicFrame>
    </p:spTree>
    <p:extLst>
      <p:ext uri="{BB962C8B-B14F-4D97-AF65-F5344CB8AC3E}">
        <p14:creationId xmlns:p14="http://schemas.microsoft.com/office/powerpoint/2010/main" val="1441373993"/>
      </p:ext>
    </p:extLst>
  </p:cSld>
</p:sld>
</file>

<file path=ppt/slides/slide20.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CONCLUSION">
            <a:extLst xmlns:a="http://schemas.openxmlformats.org/drawingml/2006/main">
              <a:ext uri="{FF2B5EF4-FFF2-40B4-BE49-F238E27FC236}">
                <a16:creationId xmlns:a16="http://schemas.microsoft.com/office/drawing/2014/main" id="{7F0D34BB-1ECF-4ADF-810A-7691C4B85673}"/>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CONCLUSION</a:t>
            </a:r>
          </a:p>
        </p:txBody>
      </p:sp>
      <p:sp>
        <p:nvSpPr>
          <p:cNvPr id="3" name="Final DA3 outcome">
            <a:extLst xmlns:a="http://schemas.openxmlformats.org/drawingml/2006/main">
              <a:ext uri="{FF2B5EF4-FFF2-40B4-BE49-F238E27FC236}">
                <a16:creationId xmlns:a16="http://schemas.microsoft.com/office/drawing/2014/main" id="{276BC4E7-E4E9-412B-9533-602C45CBB8CE}"/>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Final DA3 outcome</a:t>
            </a:r>
          </a:p>
        </p:txBody>
      </p:sp>
      <p:sp>
        <p:nvSpPr>
          <p:cNvPr id="4" name="20">
            <a:extLst xmlns:a="http://schemas.openxmlformats.org/drawingml/2006/main">
              <a:ext uri="{FF2B5EF4-FFF2-40B4-BE49-F238E27FC236}">
                <a16:creationId xmlns:a16="http://schemas.microsoft.com/office/drawing/2014/main" id="{63686BA9-2233-479B-B803-65DD354246D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20</a:t>
            </a:r>
          </a:p>
        </p:txBody>
      </p:sp>
      <p:sp>
        <p:nvSpPr>
          <p:cNvPr id="5" name="An ESP32 gateway that learns&#10;from session feedback">
            <a:extLst xmlns:a="http://schemas.openxmlformats.org/drawingml/2006/main">
              <a:ext uri="{FF2B5EF4-FFF2-40B4-BE49-F238E27FC236}">
                <a16:creationId xmlns:a16="http://schemas.microsoft.com/office/drawing/2014/main" id="{DB53E86B-F3A1-4700-A630-1541C50EC584}"/>
              </a:ext>
            </a:extLst>
          </p:cNvPr>
          <p:cNvSpPr>
            <a:spLocks xmlns:a="http://schemas.openxmlformats.org/drawingml/2006/main" noGrp="1"/>
          </p:cNvSpPr>
          <p:nvPr/>
        </p:nvSpPr>
        <p:spPr>
          <a:xfrm xmlns:a="http://schemas.openxmlformats.org/drawingml/2006/main">
            <a:off x="762000" y="2028825"/>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An ESP32 gateway that learns</a:t>
            </a:r>
          </a:p>
          <a:p xmlns:a="http://schemas.openxmlformats.org/drawingml/2006/main">
            <a:pPr>
              <a:defRPr sz="3450" b="1">
                <a:solidFill>
                  <a:srgbClr val="F7F4EE"/>
                </a:solidFill>
              </a:defRPr>
            </a:pPr>
            <a:r>
              <a:rPr sz="3450" b="1">
                <a:solidFill>
                  <a:srgbClr val="F7F4EE"/>
                </a:solidFill>
              </a:rPr>
              <a:t>from session feedback</a:t>
            </a:r>
          </a:p>
        </p:txBody>
      </p:sp>
      <p:sp>
        <p:nvSpPr>
          <p:cNvPr id="6" name="Hardware result">
            <a:extLst xmlns:a="http://schemas.openxmlformats.org/drawingml/2006/main">
              <a:ext uri="{FF2B5EF4-FFF2-40B4-BE49-F238E27FC236}">
                <a16:creationId xmlns:a16="http://schemas.microsoft.com/office/drawing/2014/main" id="{D4051BCF-83B1-4B97-9819-CA5BA27205A2}"/>
              </a:ext>
            </a:extLst>
          </p:cNvPr>
          <p:cNvSpPr>
            <a:spLocks xmlns:a="http://schemas.openxmlformats.org/drawingml/2006/main" noGrp="1"/>
          </p:cNvSpPr>
          <p:nvPr/>
        </p:nvSpPr>
        <p:spPr>
          <a:xfrm xmlns:a="http://schemas.openxmlformats.org/drawingml/2006/main">
            <a:off x="762000" y="346710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Hardware result</a:t>
            </a:r>
          </a:p>
        </p:txBody>
      </p:sp>
      <p:sp>
        <p:nvSpPr>
          <p:cNvPr id="7" name="208 ms mean latency versus 518 ms for Round Robin in the doc">
            <a:extLst xmlns:a="http://schemas.openxmlformats.org/drawingml/2006/main">
              <a:ext uri="{FF2B5EF4-FFF2-40B4-BE49-F238E27FC236}">
                <a16:creationId xmlns:a16="http://schemas.microsoft.com/office/drawing/2014/main" id="{0B705E6B-1F8E-4240-8C36-18D46BFE443F}"/>
              </a:ext>
            </a:extLst>
          </p:cNvPr>
          <p:cNvSpPr>
            <a:spLocks xmlns:a="http://schemas.openxmlformats.org/drawingml/2006/main" noGrp="1"/>
          </p:cNvSpPr>
          <p:nvPr/>
        </p:nvSpPr>
        <p:spPr>
          <a:xfrm xmlns:a="http://schemas.openxmlformats.org/drawingml/2006/main">
            <a:off x="762000" y="388620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208 ms mean latency versus 518 ms for Round Robin in the documented run.</a:t>
            </a:r>
          </a:p>
        </p:txBody>
      </p:sp>
      <p:sp>
        <p:nvSpPr>
          <p:cNvPr id="8" name="DA3 additions">
            <a:extLst xmlns:a="http://schemas.openxmlformats.org/drawingml/2006/main">
              <a:ext uri="{FF2B5EF4-FFF2-40B4-BE49-F238E27FC236}">
                <a16:creationId xmlns:a16="http://schemas.microsoft.com/office/drawing/2014/main" id="{D603F63B-C927-4FF8-852D-129AB25339FC}"/>
              </a:ext>
            </a:extLst>
          </p:cNvPr>
          <p:cNvSpPr>
            <a:spLocks xmlns:a="http://schemas.openxmlformats.org/drawingml/2006/main" noGrp="1"/>
          </p:cNvSpPr>
          <p:nvPr/>
        </p:nvSpPr>
        <p:spPr>
          <a:xfrm xmlns:a="http://schemas.openxmlformats.org/drawingml/2006/main">
            <a:off x="762000" y="476250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DA3 additions</a:t>
            </a:r>
          </a:p>
        </p:txBody>
      </p:sp>
      <p:sp>
        <p:nvSpPr>
          <p:cNvPr id="9" name="FlashPoint makes demand and routing visible. Flash persisten">
            <a:extLst xmlns:a="http://schemas.openxmlformats.org/drawingml/2006/main">
              <a:ext uri="{FF2B5EF4-FFF2-40B4-BE49-F238E27FC236}">
                <a16:creationId xmlns:a16="http://schemas.microsoft.com/office/drawing/2014/main" id="{CC2FBBF1-9EE5-4875-AB0B-4D9CD6C84902}"/>
              </a:ext>
            </a:extLst>
          </p:cNvPr>
          <p:cNvSpPr>
            <a:spLocks xmlns:a="http://schemas.openxmlformats.org/drawingml/2006/main" noGrp="1"/>
          </p:cNvSpPr>
          <p:nvPr/>
        </p:nvSpPr>
        <p:spPr>
          <a:xfrm xmlns:a="http://schemas.openxmlformats.org/drawingml/2006/main">
            <a:off x="762000" y="518160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FlashPoint makes demand and routing visible. Flash persistence preserves the learned Q-table across restarts.</a:t>
            </a:r>
          </a:p>
        </p:txBody>
      </p:sp>
    </p:spTree>
    <p:extLst>
      <p:ext uri="{BB962C8B-B14F-4D97-AF65-F5344CB8AC3E}">
        <p14:creationId xmlns:p14="http://schemas.microsoft.com/office/powerpoint/2010/main" val="358246854"/>
      </p:ext>
    </p:extLst>
  </p:cSld>
</p:sld>
</file>

<file path=ppt/slides/slide21.xml><?xml version="1.0" encoding="utf-8"?>
<p:sld xmlns:p="http://schemas.openxmlformats.org/presentationml/2006/main">
  <p:cSld>
    <p:bg>
      <p:bgPr>
        <a:solidFill xmlns:a="http://schemas.openxmlformats.org/drawingml/2006/main">
          <a:srgbClr val="0E1822"/>
        </a:solidFill>
      </p:bgPr>
    </p:bg>
    <p:spTree>
      <p:nvGrpSpPr>
        <p:cNvPr id="1" name=""/>
        <p:cNvGrpSpPr/>
        <p:nvPr/>
      </p:nvGrpSpPr>
      <p:grpSpPr>
        <a:xfrm xmlns:a="http://schemas.openxmlformats.org/drawingml/2006/main"/>
      </p:grpSpPr>
      <p:sp>
        <p:nvSpPr>
          <p:cNvPr id="2" name="SUBMISSION SOURCES">
            <a:extLst xmlns:a="http://schemas.openxmlformats.org/drawingml/2006/main">
              <a:ext uri="{FF2B5EF4-FFF2-40B4-BE49-F238E27FC236}">
                <a16:creationId xmlns:a16="http://schemas.microsoft.com/office/drawing/2014/main" id="{52D452A1-98BC-4738-BDAC-5F2AA52C0892}"/>
              </a:ext>
            </a:extLst>
          </p:cNvPr>
          <p:cNvSpPr>
            <a:spLocks xmlns:a="http://schemas.openxmlformats.org/drawingml/2006/main" noGrp="1"/>
          </p:cNvSpPr>
          <p:nvPr/>
        </p:nvSpPr>
        <p:spPr>
          <a:xfrm xmlns:a="http://schemas.openxmlformats.org/drawingml/2006/main">
            <a:off x="762000" y="4381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SUBMISSION SOURCES</a:t>
            </a:r>
          </a:p>
        </p:txBody>
      </p:sp>
      <p:sp>
        <p:nvSpPr>
          <p:cNvPr id="3" name="References and evidence">
            <a:extLst xmlns:a="http://schemas.openxmlformats.org/drawingml/2006/main">
              <a:ext uri="{FF2B5EF4-FFF2-40B4-BE49-F238E27FC236}">
                <a16:creationId xmlns:a16="http://schemas.microsoft.com/office/drawing/2014/main" id="{25B5C654-BB8B-4C3B-8798-6CAD773887EC}"/>
              </a:ext>
            </a:extLst>
          </p:cNvPr>
          <p:cNvSpPr>
            <a:spLocks xmlns:a="http://schemas.openxmlformats.org/drawingml/2006/main" noGrp="1"/>
          </p:cNvSpPr>
          <p:nvPr/>
        </p:nvSpPr>
        <p:spPr>
          <a:xfrm xmlns:a="http://schemas.openxmlformats.org/drawingml/2006/main">
            <a:off x="762000" y="876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4EE"/>
                </a:solidFill>
              </a:defRPr>
            </a:defPPr>
            <a:lvl1pPr>
              <a:defRPr sz="3450" b="1">
                <a:solidFill>
                  <a:srgbClr val="F7F4EE"/>
                </a:solidFill>
              </a:defRPr>
            </a:lvl1pPr>
            <a:lvl2pPr>
              <a:defRPr sz="3450" b="1">
                <a:solidFill>
                  <a:srgbClr val="F7F4EE"/>
                </a:solidFill>
              </a:defRPr>
            </a:lvl2pPr>
            <a:lvl3pPr>
              <a:defRPr sz="3450" b="1">
                <a:solidFill>
                  <a:srgbClr val="F7F4EE"/>
                </a:solidFill>
              </a:defRPr>
            </a:lvl3pPr>
            <a:lvl4pPr>
              <a:defRPr sz="3450" b="1">
                <a:solidFill>
                  <a:srgbClr val="F7F4EE"/>
                </a:solidFill>
              </a:defRPr>
            </a:lvl4pPr>
            <a:lvl5pPr>
              <a:defRPr sz="3450" b="1">
                <a:solidFill>
                  <a:srgbClr val="F7F4EE"/>
                </a:solidFill>
              </a:defRPr>
            </a:lvl5pPr>
            <a:lvl6pPr>
              <a:defRPr sz="3450" b="1">
                <a:solidFill>
                  <a:srgbClr val="F7F4EE"/>
                </a:solidFill>
              </a:defRPr>
            </a:lvl6pPr>
            <a:lvl7pPr>
              <a:defRPr sz="3450" b="1">
                <a:solidFill>
                  <a:srgbClr val="F7F4EE"/>
                </a:solidFill>
              </a:defRPr>
            </a:lvl7pPr>
            <a:lvl8pPr>
              <a:defRPr sz="3450" b="1">
                <a:solidFill>
                  <a:srgbClr val="F7F4EE"/>
                </a:solidFill>
              </a:defRPr>
            </a:lvl8pPr>
            <a:lvl9pPr>
              <a:defRPr sz="3450" b="1">
                <a:solidFill>
                  <a:srgbClr val="F7F4EE"/>
                </a:solidFill>
              </a:defRPr>
            </a:lvl9pPr>
          </a:lstStyle>
          <a:p xmlns:a="http://schemas.openxmlformats.org/drawingml/2006/main">
            <a:pPr>
              <a:defRPr sz="3450" b="1">
                <a:solidFill>
                  <a:srgbClr val="F7F4EE"/>
                </a:solidFill>
              </a:defRPr>
            </a:pPr>
            <a:r>
              <a:rPr sz="3450" b="1">
                <a:solidFill>
                  <a:srgbClr val="F7F4EE"/>
                </a:solidFill>
              </a:rPr>
              <a:t>References and evidence</a:t>
            </a:r>
          </a:p>
        </p:txBody>
      </p:sp>
      <p:sp>
        <p:nvSpPr>
          <p:cNvPr id="4" name="21">
            <a:extLst xmlns:a="http://schemas.openxmlformats.org/drawingml/2006/main">
              <a:ext uri="{FF2B5EF4-FFF2-40B4-BE49-F238E27FC236}">
                <a16:creationId xmlns:a16="http://schemas.microsoft.com/office/drawing/2014/main" id="{5BB1281E-2EC4-4418-9EA5-62906D998940}"/>
              </a:ext>
            </a:extLst>
          </p:cNvPr>
          <p:cNvSpPr>
            <a:spLocks xmlns:a="http://schemas.openxmlformats.org/drawingml/2006/main" noGrp="1"/>
          </p:cNvSpPr>
          <p:nvPr/>
        </p:nvSpPr>
        <p:spPr>
          <a:xfrm xmlns:a="http://schemas.openxmlformats.org/drawingml/2006/main">
            <a:off x="1104900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0ABB5"/>
                </a:solidFill>
              </a:defRPr>
            </a:defPPr>
            <a:lvl1pPr>
              <a:defRPr sz="1125" b="0">
                <a:solidFill>
                  <a:srgbClr val="A0ABB5"/>
                </a:solidFill>
              </a:defRPr>
            </a:lvl1pPr>
            <a:lvl2pPr>
              <a:defRPr sz="1125" b="0">
                <a:solidFill>
                  <a:srgbClr val="A0ABB5"/>
                </a:solidFill>
              </a:defRPr>
            </a:lvl2pPr>
            <a:lvl3pPr>
              <a:defRPr sz="1125" b="0">
                <a:solidFill>
                  <a:srgbClr val="A0ABB5"/>
                </a:solidFill>
              </a:defRPr>
            </a:lvl3pPr>
            <a:lvl4pPr>
              <a:defRPr sz="1125" b="0">
                <a:solidFill>
                  <a:srgbClr val="A0ABB5"/>
                </a:solidFill>
              </a:defRPr>
            </a:lvl4pPr>
            <a:lvl5pPr>
              <a:defRPr sz="1125" b="0">
                <a:solidFill>
                  <a:srgbClr val="A0ABB5"/>
                </a:solidFill>
              </a:defRPr>
            </a:lvl5pPr>
            <a:lvl6pPr>
              <a:defRPr sz="1125" b="0">
                <a:solidFill>
                  <a:srgbClr val="A0ABB5"/>
                </a:solidFill>
              </a:defRPr>
            </a:lvl6pPr>
            <a:lvl7pPr>
              <a:defRPr sz="1125" b="0">
                <a:solidFill>
                  <a:srgbClr val="A0ABB5"/>
                </a:solidFill>
              </a:defRPr>
            </a:lvl7pPr>
            <a:lvl8pPr>
              <a:defRPr sz="1125" b="0">
                <a:solidFill>
                  <a:srgbClr val="A0ABB5"/>
                </a:solidFill>
              </a:defRPr>
            </a:lvl8pPr>
            <a:lvl9pPr>
              <a:defRPr sz="1125" b="0">
                <a:solidFill>
                  <a:srgbClr val="A0ABB5"/>
                </a:solidFill>
              </a:defRPr>
            </a:lvl9pPr>
          </a:lstStyle>
          <a:p xmlns:a="http://schemas.openxmlformats.org/drawingml/2006/main">
            <a:pPr>
              <a:defRPr sz="1125" b="0">
                <a:solidFill>
                  <a:srgbClr val="A0ABB5"/>
                </a:solidFill>
              </a:defRPr>
            </a:pPr>
            <a:r>
              <a:rPr sz="1125" b="0">
                <a:solidFill>
                  <a:srgbClr val="A0ABB5"/>
                </a:solidFill>
              </a:rPr>
              <a:t>21</a:t>
            </a:r>
          </a:p>
        </p:txBody>
      </p:sp>
      <p:sp>
        <p:nvSpPr>
          <p:cNvPr id="5" name="Implementation and hardware results">
            <a:extLst xmlns:a="http://schemas.openxmlformats.org/drawingml/2006/main">
              <a:ext uri="{FF2B5EF4-FFF2-40B4-BE49-F238E27FC236}">
                <a16:creationId xmlns:a16="http://schemas.microsoft.com/office/drawing/2014/main" id="{4C1564AA-F63F-4D9B-9735-EF37F4A3CA53}"/>
              </a:ext>
            </a:extLst>
          </p:cNvPr>
          <p:cNvSpPr>
            <a:spLocks xmlns:a="http://schemas.openxmlformats.org/drawingml/2006/main" noGrp="1"/>
          </p:cNvSpPr>
          <p:nvPr/>
        </p:nvSpPr>
        <p:spPr>
          <a:xfrm xmlns:a="http://schemas.openxmlformats.org/drawingml/2006/main">
            <a:off x="762000" y="20002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Implementation and hardware results</a:t>
            </a:r>
          </a:p>
        </p:txBody>
      </p:sp>
      <p:sp>
        <p:nvSpPr>
          <p:cNvPr id="6" name="github.com/Tanish-Desai/Esp32LoadBal&#10;Firmware, FlashPoint UI">
            <a:extLst xmlns:a="http://schemas.openxmlformats.org/drawingml/2006/main">
              <a:ext uri="{FF2B5EF4-FFF2-40B4-BE49-F238E27FC236}">
                <a16:creationId xmlns:a16="http://schemas.microsoft.com/office/drawing/2014/main" id="{892348ED-3B9F-45D5-AFD6-5B716DF83130}"/>
              </a:ext>
            </a:extLst>
          </p:cNvPr>
          <p:cNvSpPr>
            <a:spLocks xmlns:a="http://schemas.openxmlformats.org/drawingml/2006/main" noGrp="1"/>
          </p:cNvSpPr>
          <p:nvPr/>
        </p:nvSpPr>
        <p:spPr>
          <a:xfrm xmlns:a="http://schemas.openxmlformats.org/drawingml/2006/main">
            <a:off x="762000" y="24193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github.com/Tanish-Desai/Esp32LoadBal</a:t>
            </a:r>
          </a:p>
          <a:p xmlns:a="http://schemas.openxmlformats.org/drawingml/2006/main">
            <a:pPr>
              <a:defRPr sz="1875" b="0">
                <a:solidFill>
                  <a:srgbClr val="D8D3CB"/>
                </a:solidFill>
              </a:defRPr>
            </a:pPr>
            <a:r>
              <a:rPr sz="1875" b="0">
                <a:solidFill>
                  <a:srgbClr val="D8D3CB"/>
                </a:solidFill>
              </a:rPr>
              <a:t>Firmware, FlashPoint UI and markdowns/05_results_and_limits.md</a:t>
            </a:r>
          </a:p>
        </p:txBody>
      </p:sp>
      <p:sp>
        <p:nvSpPr>
          <p:cNvPr id="7" name="Reproducible simulation evidence">
            <a:extLst xmlns:a="http://schemas.openxmlformats.org/drawingml/2006/main">
              <a:ext uri="{FF2B5EF4-FFF2-40B4-BE49-F238E27FC236}">
                <a16:creationId xmlns:a16="http://schemas.microsoft.com/office/drawing/2014/main" id="{ACB1A03F-0A33-4E6A-A5CF-86CB9BE2ED6E}"/>
              </a:ext>
            </a:extLst>
          </p:cNvPr>
          <p:cNvSpPr>
            <a:spLocks xmlns:a="http://schemas.openxmlformats.org/drawingml/2006/main" noGrp="1"/>
          </p:cNvSpPr>
          <p:nvPr/>
        </p:nvSpPr>
        <p:spPr>
          <a:xfrm xmlns:a="http://schemas.openxmlformats.org/drawingml/2006/main">
            <a:off x="762000" y="32956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Reproducible simulation evidence</a:t>
            </a:r>
          </a:p>
        </p:txBody>
      </p:sp>
      <p:sp>
        <p:nvSpPr>
          <p:cNvPr id="8" name="data/project_data.json and benchmarks/tools/exp_heterogeneit">
            <a:extLst xmlns:a="http://schemas.openxmlformats.org/drawingml/2006/main">
              <a:ext uri="{FF2B5EF4-FFF2-40B4-BE49-F238E27FC236}">
                <a16:creationId xmlns:a16="http://schemas.microsoft.com/office/drawing/2014/main" id="{8B11F764-7702-45E1-AAF7-C2770A7711F2}"/>
              </a:ext>
            </a:extLst>
          </p:cNvPr>
          <p:cNvSpPr>
            <a:spLocks xmlns:a="http://schemas.openxmlformats.org/drawingml/2006/main" noGrp="1"/>
          </p:cNvSpPr>
          <p:nvPr/>
        </p:nvSpPr>
        <p:spPr>
          <a:xfrm xmlns:a="http://schemas.openxmlformats.org/drawingml/2006/main">
            <a:off x="762000" y="37147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data/project_data.json and benchmarks/tools/exp_heterogeneity.mjs</a:t>
            </a:r>
          </a:p>
          <a:p xmlns:a="http://schemas.openxmlformats.org/drawingml/2006/main">
            <a:pPr>
              <a:defRPr sz="1875" b="0">
                <a:solidFill>
                  <a:srgbClr val="D8D3CB"/>
                </a:solidFill>
              </a:defRPr>
            </a:pPr>
            <a:r>
              <a:rPr sz="1875" b="0">
                <a:solidFill>
                  <a:srgbClr val="D8D3CB"/>
                </a:solidFill>
              </a:rPr>
              <a:t>Three scenario aggregates, eight seeds per experiment</a:t>
            </a:r>
          </a:p>
        </p:txBody>
      </p:sp>
      <p:sp>
        <p:nvSpPr>
          <p:cNvPr id="9" name="Storage terminology and implementation status">
            <a:extLst xmlns:a="http://schemas.openxmlformats.org/drawingml/2006/main">
              <a:ext uri="{FF2B5EF4-FFF2-40B4-BE49-F238E27FC236}">
                <a16:creationId xmlns:a16="http://schemas.microsoft.com/office/drawing/2014/main" id="{F1477BF4-DD0D-45EE-A83E-AF3511527344}"/>
              </a:ext>
            </a:extLst>
          </p:cNvPr>
          <p:cNvSpPr>
            <a:spLocks xmlns:a="http://schemas.openxmlformats.org/drawingml/2006/main" noGrp="1"/>
          </p:cNvSpPr>
          <p:nvPr/>
        </p:nvSpPr>
        <p:spPr>
          <a:xfrm xmlns:a="http://schemas.openxmlformats.org/drawingml/2006/main">
            <a:off x="762000" y="4591050"/>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E16A3D"/>
                </a:solidFill>
              </a:defRPr>
            </a:defPPr>
            <a:lvl1pPr>
              <a:defRPr sz="2025" b="1">
                <a:solidFill>
                  <a:srgbClr val="E16A3D"/>
                </a:solidFill>
              </a:defRPr>
            </a:lvl1pPr>
            <a:lvl2pPr>
              <a:defRPr sz="2025" b="1">
                <a:solidFill>
                  <a:srgbClr val="E16A3D"/>
                </a:solidFill>
              </a:defRPr>
            </a:lvl2pPr>
            <a:lvl3pPr>
              <a:defRPr sz="2025" b="1">
                <a:solidFill>
                  <a:srgbClr val="E16A3D"/>
                </a:solidFill>
              </a:defRPr>
            </a:lvl3pPr>
            <a:lvl4pPr>
              <a:defRPr sz="2025" b="1">
                <a:solidFill>
                  <a:srgbClr val="E16A3D"/>
                </a:solidFill>
              </a:defRPr>
            </a:lvl4pPr>
            <a:lvl5pPr>
              <a:defRPr sz="2025" b="1">
                <a:solidFill>
                  <a:srgbClr val="E16A3D"/>
                </a:solidFill>
              </a:defRPr>
            </a:lvl5pPr>
            <a:lvl6pPr>
              <a:defRPr sz="2025" b="1">
                <a:solidFill>
                  <a:srgbClr val="E16A3D"/>
                </a:solidFill>
              </a:defRPr>
            </a:lvl6pPr>
            <a:lvl7pPr>
              <a:defRPr sz="2025" b="1">
                <a:solidFill>
                  <a:srgbClr val="E16A3D"/>
                </a:solidFill>
              </a:defRPr>
            </a:lvl7pPr>
            <a:lvl8pPr>
              <a:defRPr sz="2025" b="1">
                <a:solidFill>
                  <a:srgbClr val="E16A3D"/>
                </a:solidFill>
              </a:defRPr>
            </a:lvl8pPr>
            <a:lvl9pPr>
              <a:defRPr sz="2025" b="1">
                <a:solidFill>
                  <a:srgbClr val="E16A3D"/>
                </a:solidFill>
              </a:defRPr>
            </a:lvl9pPr>
          </a:lstStyle>
          <a:p xmlns:a="http://schemas.openxmlformats.org/drawingml/2006/main">
            <a:pPr>
              <a:defRPr sz="2025" b="1">
                <a:solidFill>
                  <a:srgbClr val="E16A3D"/>
                </a:solidFill>
              </a:defRPr>
            </a:pPr>
            <a:r>
              <a:rPr sz="2025" b="1">
                <a:solidFill>
                  <a:srgbClr val="E16A3D"/>
                </a:solidFill>
              </a:rPr>
              <a:t>Storage terminology and implementation status</a:t>
            </a:r>
          </a:p>
        </p:txBody>
      </p:sp>
      <p:sp>
        <p:nvSpPr>
          <p:cNvPr id="10" name="Espressif Arduino-ESP32 Preferences documentation&#10;Q-table fl">
            <a:extLst xmlns:a="http://schemas.openxmlformats.org/drawingml/2006/main">
              <a:ext uri="{FF2B5EF4-FFF2-40B4-BE49-F238E27FC236}">
                <a16:creationId xmlns:a16="http://schemas.microsoft.com/office/drawing/2014/main" id="{7C266349-3B95-4E1E-B77F-30F9FACD54DD}"/>
              </a:ext>
            </a:extLst>
          </p:cNvPr>
          <p:cNvSpPr>
            <a:spLocks xmlns:a="http://schemas.openxmlformats.org/drawingml/2006/main" noGrp="1"/>
          </p:cNvSpPr>
          <p:nvPr/>
        </p:nvSpPr>
        <p:spPr>
          <a:xfrm xmlns:a="http://schemas.openxmlformats.org/drawingml/2006/main">
            <a:off x="762000" y="501015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3CB"/>
                </a:solidFill>
              </a:defRPr>
            </a:defPPr>
            <a:lvl1pPr>
              <a:defRPr sz="1875" b="0">
                <a:solidFill>
                  <a:srgbClr val="D8D3CB"/>
                </a:solidFill>
              </a:defRPr>
            </a:lvl1pPr>
            <a:lvl2pPr>
              <a:defRPr sz="1875" b="0">
                <a:solidFill>
                  <a:srgbClr val="D8D3CB"/>
                </a:solidFill>
              </a:defRPr>
            </a:lvl2pPr>
            <a:lvl3pPr>
              <a:defRPr sz="1875" b="0">
                <a:solidFill>
                  <a:srgbClr val="D8D3CB"/>
                </a:solidFill>
              </a:defRPr>
            </a:lvl3pPr>
            <a:lvl4pPr>
              <a:defRPr sz="1875" b="0">
                <a:solidFill>
                  <a:srgbClr val="D8D3CB"/>
                </a:solidFill>
              </a:defRPr>
            </a:lvl4pPr>
            <a:lvl5pPr>
              <a:defRPr sz="1875" b="0">
                <a:solidFill>
                  <a:srgbClr val="D8D3CB"/>
                </a:solidFill>
              </a:defRPr>
            </a:lvl5pPr>
            <a:lvl6pPr>
              <a:defRPr sz="1875" b="0">
                <a:solidFill>
                  <a:srgbClr val="D8D3CB"/>
                </a:solidFill>
              </a:defRPr>
            </a:lvl6pPr>
            <a:lvl7pPr>
              <a:defRPr sz="1875" b="0">
                <a:solidFill>
                  <a:srgbClr val="D8D3CB"/>
                </a:solidFill>
              </a:defRPr>
            </a:lvl7pPr>
            <a:lvl8pPr>
              <a:defRPr sz="1875" b="0">
                <a:solidFill>
                  <a:srgbClr val="D8D3CB"/>
                </a:solidFill>
              </a:defRPr>
            </a:lvl8pPr>
            <a:lvl9pPr>
              <a:defRPr sz="1875" b="0">
                <a:solidFill>
                  <a:srgbClr val="D8D3CB"/>
                </a:solidFill>
              </a:defRPr>
            </a:lvl9pPr>
          </a:lstStyle>
          <a:p xmlns:a="http://schemas.openxmlformats.org/drawingml/2006/main">
            <a:pPr>
              <a:defRPr sz="1875" b="0">
                <a:solidFill>
                  <a:srgbClr val="D8D3CB"/>
                </a:solidFill>
              </a:defRPr>
            </a:pPr>
            <a:r>
              <a:rPr sz="1875" b="0">
                <a:solidFill>
                  <a:srgbClr val="D8D3CB"/>
                </a:solidFill>
              </a:rPr>
              <a:t>Espressif Arduino-ESP32 Preferences documentation</a:t>
            </a:r>
          </a:p>
          <a:p xmlns:a="http://schemas.openxmlformats.org/drawingml/2006/main">
            <a:pPr>
              <a:defRPr sz="1875" b="0">
                <a:solidFill>
                  <a:srgbClr val="D8D3CB"/>
                </a:solidFill>
              </a:defRPr>
            </a:pPr>
            <a:r>
              <a:rPr sz="1875" b="0">
                <a:solidFill>
                  <a:srgbClr val="D8D3CB"/>
                </a:solidFill>
              </a:rPr>
              <a:t>Q-table flash persistence: team-confirmed, code commit pending</a:t>
            </a:r>
          </a:p>
        </p:txBody>
      </p:sp>
    </p:spTree>
    <p:extLst>
      <p:ext uri="{BB962C8B-B14F-4D97-AF65-F5344CB8AC3E}">
        <p14:creationId xmlns:p14="http://schemas.microsoft.com/office/powerpoint/2010/main" val="20081014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2026-10-28T09:08:09.7050000Z</dcterms:created>
  <dcterms:modified xsi:type="dcterms:W3CDTF">2026-10-28T09:08:09.7050000Z</dcterms:modified>
</coreProperties>
</file>